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" name="Google Shape;47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6" name="Google Shape;76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d97abe5e86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d97abe5e86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g3d97abe5e86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5" name="Google Shape;115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1" name="Google Shape;151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6" name="Google Shape;196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Relationship Id="rId4" Type="http://schemas.openxmlformats.org/officeDocument/2006/relationships/image" Target="../media/image14.png"/><Relationship Id="rId5" Type="http://schemas.openxmlformats.org/officeDocument/2006/relationships/image" Target="../media/image3.png"/><Relationship Id="rId6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4.png"/><Relationship Id="rId4" Type="http://schemas.openxmlformats.org/officeDocument/2006/relationships/image" Target="../media/image22.png"/><Relationship Id="rId5" Type="http://schemas.openxmlformats.org/officeDocument/2006/relationships/image" Target="../media/image10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6.png"/><Relationship Id="rId4" Type="http://schemas.openxmlformats.org/officeDocument/2006/relationships/image" Target="../media/image8.png"/><Relationship Id="rId5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hyperlink" Target="http://drive.google.com/file/d/1-vuSlq-5W29N8I9kR0G3CF29l4KZ7mKB/view" TargetMode="External"/><Relationship Id="rId4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Relationship Id="rId4" Type="http://schemas.openxmlformats.org/officeDocument/2006/relationships/image" Target="../media/image13.png"/><Relationship Id="rId5" Type="http://schemas.openxmlformats.org/officeDocument/2006/relationships/image" Target="../media/image6.png"/><Relationship Id="rId6" Type="http://schemas.openxmlformats.org/officeDocument/2006/relationships/image" Target="../media/image1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Relationship Id="rId4" Type="http://schemas.openxmlformats.org/officeDocument/2006/relationships/image" Target="../media/image6.png"/><Relationship Id="rId5" Type="http://schemas.openxmlformats.org/officeDocument/2006/relationships/image" Target="../media/image23.png"/><Relationship Id="rId6" Type="http://schemas.openxmlformats.org/officeDocument/2006/relationships/image" Target="../media/image18.png"/><Relationship Id="rId7" Type="http://schemas.openxmlformats.org/officeDocument/2006/relationships/image" Target="../media/image1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9.png"/><Relationship Id="rId4" Type="http://schemas.openxmlformats.org/officeDocument/2006/relationships/image" Target="../media/image21.png"/><Relationship Id="rId5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2540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6126480" y="0"/>
            <a:ext cx="3017520" cy="5143500"/>
          </a:xfrm>
          <a:prstGeom prst="rect">
            <a:avLst/>
          </a:prstGeom>
          <a:solidFill>
            <a:srgbClr val="008C82"/>
          </a:solidFill>
          <a:ln cap="flat" cmpd="sng" w="12700">
            <a:solidFill>
              <a:srgbClr val="008C8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457200" y="457200"/>
            <a:ext cx="73152" cy="640080"/>
          </a:xfrm>
          <a:prstGeom prst="rect">
            <a:avLst/>
          </a:prstGeom>
          <a:solidFill>
            <a:srgbClr val="FF6B6B"/>
          </a:solidFill>
          <a:ln cap="flat" cmpd="sng" w="12700">
            <a:solidFill>
              <a:srgbClr val="FF6B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3"/>
          <p:cNvSpPr/>
          <p:nvPr/>
        </p:nvSpPr>
        <p:spPr>
          <a:xfrm>
            <a:off x="640080" y="45720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A6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0B4A6"/>
                </a:solidFill>
                <a:latin typeface="Calibri"/>
                <a:ea typeface="Calibri"/>
                <a:cs typeface="Calibri"/>
                <a:sym typeface="Calibri"/>
              </a:rPr>
              <a:t>BYTE BEASTS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640080" y="777240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CA8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CA8B8"/>
                </a:solidFill>
                <a:latin typeface="Calibri"/>
                <a:ea typeface="Calibri"/>
                <a:cs typeface="Calibri"/>
                <a:sym typeface="Calibri"/>
              </a:rPr>
              <a:t>CareDevi AI Hackathon 2026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457200" y="1554480"/>
            <a:ext cx="566928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600"/>
              <a:buFont typeface="Georgia"/>
              <a:buNone/>
            </a:pPr>
            <a:r>
              <a:rPr b="1" i="0" lang="en-US" sz="66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MedRoute</a:t>
            </a:r>
            <a:endParaRPr b="0" i="0" sz="6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3"/>
          <p:cNvSpPr/>
          <p:nvPr/>
        </p:nvSpPr>
        <p:spPr>
          <a:xfrm>
            <a:off x="502920" y="2788920"/>
            <a:ext cx="502920" cy="45720"/>
          </a:xfrm>
          <a:prstGeom prst="rect">
            <a:avLst/>
          </a:prstGeom>
          <a:solidFill>
            <a:srgbClr val="FF6B6B"/>
          </a:solidFill>
          <a:ln cap="flat" cmpd="sng" w="12700">
            <a:solidFill>
              <a:srgbClr val="FF6B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3"/>
          <p:cNvSpPr/>
          <p:nvPr/>
        </p:nvSpPr>
        <p:spPr>
          <a:xfrm>
            <a:off x="457200" y="2971800"/>
            <a:ext cx="548640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ER, urgent care, GP, or stay home?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Clr>
                <a:srgbClr val="C7D2DE"/>
              </a:buClr>
              <a:buSzPts val="1700"/>
              <a:buFont typeface="Calibri"/>
              <a:buNone/>
            </a:pPr>
            <a:r>
              <a:rPr b="0" i="0" lang="en-US" sz="1700" u="none" cap="none" strike="noStrike">
                <a:solidFill>
                  <a:srgbClr val="C7D2DE"/>
                </a:solidFill>
                <a:latin typeface="Calibri"/>
                <a:ea typeface="Calibri"/>
                <a:cs typeface="Calibri"/>
                <a:sym typeface="Calibri"/>
              </a:rPr>
              <a:t>AI triage that answers in 60 seconds — and shows you where to go next.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3"/>
          <p:cNvSpPr/>
          <p:nvPr/>
        </p:nvSpPr>
        <p:spPr>
          <a:xfrm>
            <a:off x="457200" y="448056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A6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00B4A6"/>
                </a:solidFill>
                <a:latin typeface="Calibri"/>
                <a:ea typeface="Calibri"/>
                <a:cs typeface="Calibri"/>
                <a:sym typeface="Calibri"/>
              </a:rPr>
              <a:t>Fidel  ·  Eladio  ·  Jeheon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3"/>
          <p:cNvSpPr/>
          <p:nvPr/>
        </p:nvSpPr>
        <p:spPr>
          <a:xfrm>
            <a:off x="6400800" y="914400"/>
            <a:ext cx="2377440" cy="502920"/>
          </a:xfrm>
          <a:prstGeom prst="rect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3"/>
          <p:cNvSpPr/>
          <p:nvPr/>
        </p:nvSpPr>
        <p:spPr>
          <a:xfrm>
            <a:off x="6400800" y="914400"/>
            <a:ext cx="109728" cy="502920"/>
          </a:xfrm>
          <a:prstGeom prst="rect">
            <a:avLst/>
          </a:prstGeom>
          <a:solidFill>
            <a:srgbClr val="FF6B6B"/>
          </a:solidFill>
          <a:ln cap="flat" cmpd="sng" w="12700">
            <a:solidFill>
              <a:srgbClr val="FF6B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6" name="Google Shape;26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29400" y="1033272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27" name="Google Shape;27;p3"/>
          <p:cNvSpPr/>
          <p:nvPr/>
        </p:nvSpPr>
        <p:spPr>
          <a:xfrm>
            <a:off x="6995160" y="987552"/>
            <a:ext cx="1737360" cy="3566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Emergency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3"/>
          <p:cNvSpPr/>
          <p:nvPr/>
        </p:nvSpPr>
        <p:spPr>
          <a:xfrm>
            <a:off x="6400800" y="1581912"/>
            <a:ext cx="2377440" cy="502920"/>
          </a:xfrm>
          <a:prstGeom prst="rect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3"/>
          <p:cNvSpPr/>
          <p:nvPr/>
        </p:nvSpPr>
        <p:spPr>
          <a:xfrm>
            <a:off x="6400800" y="1581912"/>
            <a:ext cx="109728" cy="502920"/>
          </a:xfrm>
          <a:prstGeom prst="rect">
            <a:avLst/>
          </a:prstGeom>
          <a:solidFill>
            <a:srgbClr val="F5A623"/>
          </a:solidFill>
          <a:ln cap="flat" cmpd="sng" w="12700">
            <a:solidFill>
              <a:srgbClr val="F5A6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0" name="Google Shape;30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29400" y="1700784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3"/>
          <p:cNvSpPr/>
          <p:nvPr/>
        </p:nvSpPr>
        <p:spPr>
          <a:xfrm>
            <a:off x="6995160" y="1655064"/>
            <a:ext cx="1737360" cy="3566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Urgent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3"/>
          <p:cNvSpPr/>
          <p:nvPr/>
        </p:nvSpPr>
        <p:spPr>
          <a:xfrm>
            <a:off x="6400800" y="2249424"/>
            <a:ext cx="2377440" cy="502920"/>
          </a:xfrm>
          <a:prstGeom prst="rect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3"/>
          <p:cNvSpPr/>
          <p:nvPr/>
        </p:nvSpPr>
        <p:spPr>
          <a:xfrm>
            <a:off x="6400800" y="2249424"/>
            <a:ext cx="109728" cy="502920"/>
          </a:xfrm>
          <a:prstGeom prst="rect">
            <a:avLst/>
          </a:prstGeom>
          <a:solidFill>
            <a:srgbClr val="F5D742"/>
          </a:solidFill>
          <a:ln cap="flat" cmpd="sng" w="12700">
            <a:solidFill>
              <a:srgbClr val="F5D7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4" name="Google Shape;34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29400" y="2368296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3"/>
          <p:cNvSpPr/>
          <p:nvPr/>
        </p:nvSpPr>
        <p:spPr>
          <a:xfrm>
            <a:off x="6995160" y="2322576"/>
            <a:ext cx="1737360" cy="3566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Semi-urgent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3"/>
          <p:cNvSpPr/>
          <p:nvPr/>
        </p:nvSpPr>
        <p:spPr>
          <a:xfrm>
            <a:off x="6400800" y="2916936"/>
            <a:ext cx="2377440" cy="502920"/>
          </a:xfrm>
          <a:prstGeom prst="rect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3"/>
          <p:cNvSpPr/>
          <p:nvPr/>
        </p:nvSpPr>
        <p:spPr>
          <a:xfrm>
            <a:off x="6400800" y="2916936"/>
            <a:ext cx="109728" cy="502920"/>
          </a:xfrm>
          <a:prstGeom prst="rect">
            <a:avLst/>
          </a:prstGeom>
          <a:solidFill>
            <a:srgbClr val="5BB7F7"/>
          </a:solidFill>
          <a:ln cap="flat" cmpd="sng" w="12700">
            <a:solidFill>
              <a:srgbClr val="5BB7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8" name="Google Shape;38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629400" y="3035808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3"/>
          <p:cNvSpPr/>
          <p:nvPr/>
        </p:nvSpPr>
        <p:spPr>
          <a:xfrm>
            <a:off x="6995160" y="2990088"/>
            <a:ext cx="1737360" cy="3566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Routine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3"/>
          <p:cNvSpPr/>
          <p:nvPr/>
        </p:nvSpPr>
        <p:spPr>
          <a:xfrm>
            <a:off x="6400800" y="3584448"/>
            <a:ext cx="2377440" cy="502920"/>
          </a:xfrm>
          <a:prstGeom prst="rect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3"/>
          <p:cNvSpPr/>
          <p:nvPr/>
        </p:nvSpPr>
        <p:spPr>
          <a:xfrm>
            <a:off x="6400800" y="3584448"/>
            <a:ext cx="109728" cy="502920"/>
          </a:xfrm>
          <a:prstGeom prst="rect">
            <a:avLst/>
          </a:prstGeom>
          <a:solidFill>
            <a:srgbClr val="1AC4B0"/>
          </a:solidFill>
          <a:ln cap="flat" cmpd="sng" w="12700">
            <a:solidFill>
              <a:srgbClr val="1AC4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2" name="Google Shape;42;p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629400" y="3703320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43" name="Google Shape;43;p3"/>
          <p:cNvSpPr/>
          <p:nvPr/>
        </p:nvSpPr>
        <p:spPr>
          <a:xfrm>
            <a:off x="6995160" y="3657600"/>
            <a:ext cx="1737360" cy="3566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Self-care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3"/>
          <p:cNvSpPr/>
          <p:nvPr/>
        </p:nvSpPr>
        <p:spPr>
          <a:xfrm>
            <a:off x="6400800" y="4206240"/>
            <a:ext cx="2377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 urgency tiers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7FA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"/>
          <p:cNvSpPr/>
          <p:nvPr/>
        </p:nvSpPr>
        <p:spPr>
          <a:xfrm>
            <a:off x="457200" y="41148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A6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0B4A6"/>
                </a:solidFill>
                <a:latin typeface="Calibri"/>
                <a:ea typeface="Calibri"/>
                <a:cs typeface="Calibri"/>
                <a:sym typeface="Calibri"/>
              </a:rPr>
              <a:t>THE PROBLEM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4"/>
          <p:cNvSpPr/>
          <p:nvPr/>
        </p:nvSpPr>
        <p:spPr>
          <a:xfrm>
            <a:off x="457200" y="77724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3800"/>
              <a:buFont typeface="Georgia"/>
              <a:buNone/>
            </a:pPr>
            <a:r>
              <a:rPr b="1" i="0" lang="en-US" sz="3800" u="none" cap="none" strike="noStrike">
                <a:solidFill>
                  <a:srgbClr val="0A2540"/>
                </a:solidFill>
                <a:latin typeface="Georgia"/>
                <a:ea typeface="Georgia"/>
                <a:cs typeface="Georgia"/>
                <a:sym typeface="Georgia"/>
              </a:rPr>
              <a:t>“Is this an ER trip,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4"/>
          <p:cNvSpPr/>
          <p:nvPr/>
        </p:nvSpPr>
        <p:spPr>
          <a:xfrm>
            <a:off x="457200" y="141732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3800"/>
              <a:buFont typeface="Georgia"/>
              <a:buNone/>
            </a:pPr>
            <a:r>
              <a:rPr b="1" i="1" lang="en-US" sz="3800" u="none" cap="none" strike="noStrike">
                <a:solidFill>
                  <a:srgbClr val="0A2540"/>
                </a:solidFill>
                <a:latin typeface="Georgia"/>
                <a:ea typeface="Georgia"/>
                <a:cs typeface="Georgia"/>
                <a:sym typeface="Georgia"/>
              </a:rPr>
              <a:t>or can it wait until Monday?”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4"/>
          <p:cNvSpPr/>
          <p:nvPr/>
        </p:nvSpPr>
        <p:spPr>
          <a:xfrm>
            <a:off x="457200" y="224028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Patients face this question every day — and get it wrong in both directions.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4"/>
          <p:cNvSpPr/>
          <p:nvPr/>
        </p:nvSpPr>
        <p:spPr>
          <a:xfrm>
            <a:off x="457200" y="2788920"/>
            <a:ext cx="2606040" cy="16916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4"/>
          <p:cNvSpPr/>
          <p:nvPr/>
        </p:nvSpPr>
        <p:spPr>
          <a:xfrm>
            <a:off x="457200" y="2788920"/>
            <a:ext cx="73152" cy="1691640"/>
          </a:xfrm>
          <a:prstGeom prst="rect">
            <a:avLst/>
          </a:prstGeom>
          <a:solidFill>
            <a:srgbClr val="FF6B6B"/>
          </a:solidFill>
          <a:ln cap="flat" cmpd="sng" w="12700">
            <a:solidFill>
              <a:srgbClr val="FF6B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6" name="Google Shape;56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1520" y="292608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4"/>
          <p:cNvSpPr/>
          <p:nvPr/>
        </p:nvSpPr>
        <p:spPr>
          <a:xfrm>
            <a:off x="685800" y="3337560"/>
            <a:ext cx="22402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3800"/>
              <a:buFont typeface="Georgia"/>
              <a:buNone/>
            </a:pPr>
            <a:r>
              <a:rPr b="1" i="0" lang="en-US" sz="3800" u="none" cap="none" strike="noStrike">
                <a:solidFill>
                  <a:srgbClr val="0A2540"/>
                </a:solidFill>
                <a:latin typeface="Georgia"/>
                <a:ea typeface="Georgia"/>
                <a:cs typeface="Georgia"/>
                <a:sym typeface="Georgia"/>
              </a:rPr>
              <a:t>~30%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4"/>
          <p:cNvSpPr/>
          <p:nvPr/>
        </p:nvSpPr>
        <p:spPr>
          <a:xfrm>
            <a:off x="685800" y="3977640"/>
            <a:ext cx="22402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of US ER visits are non-urgent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4"/>
          <p:cNvSpPr/>
          <p:nvPr/>
        </p:nvSpPr>
        <p:spPr>
          <a:xfrm>
            <a:off x="3268980" y="2788920"/>
            <a:ext cx="2606040" cy="16916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4"/>
          <p:cNvSpPr/>
          <p:nvPr/>
        </p:nvSpPr>
        <p:spPr>
          <a:xfrm>
            <a:off x="3268980" y="2788920"/>
            <a:ext cx="73152" cy="1691640"/>
          </a:xfrm>
          <a:prstGeom prst="rect">
            <a:avLst/>
          </a:prstGeom>
          <a:solidFill>
            <a:srgbClr val="00B4A6"/>
          </a:solidFill>
          <a:ln cap="flat" cmpd="sng" w="12700">
            <a:solidFill>
              <a:srgbClr val="00B4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1" name="Google Shape;61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43300" y="292608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4"/>
          <p:cNvSpPr/>
          <p:nvPr/>
        </p:nvSpPr>
        <p:spPr>
          <a:xfrm>
            <a:off x="3497580" y="3337560"/>
            <a:ext cx="22402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3800"/>
              <a:buFont typeface="Georgia"/>
              <a:buNone/>
            </a:pPr>
            <a:r>
              <a:rPr b="1" i="0" lang="en-US" sz="3800" u="none" cap="none" strike="noStrike">
                <a:solidFill>
                  <a:srgbClr val="0A2540"/>
                </a:solidFill>
                <a:latin typeface="Georgia"/>
                <a:ea typeface="Georgia"/>
                <a:cs typeface="Georgia"/>
                <a:sym typeface="Georgia"/>
              </a:rPr>
              <a:t>$32B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4"/>
          <p:cNvSpPr/>
          <p:nvPr/>
        </p:nvSpPr>
        <p:spPr>
          <a:xfrm>
            <a:off x="3497580" y="3977640"/>
            <a:ext cx="22402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spent annually on avoidable ER use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4"/>
          <p:cNvSpPr/>
          <p:nvPr/>
        </p:nvSpPr>
        <p:spPr>
          <a:xfrm>
            <a:off x="6080760" y="2788920"/>
            <a:ext cx="2606040" cy="16916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4"/>
          <p:cNvSpPr/>
          <p:nvPr/>
        </p:nvSpPr>
        <p:spPr>
          <a:xfrm>
            <a:off x="6080760" y="2788920"/>
            <a:ext cx="73152" cy="1691640"/>
          </a:xfrm>
          <a:prstGeom prst="rect">
            <a:avLst/>
          </a:prstGeom>
          <a:solidFill>
            <a:srgbClr val="F5A623"/>
          </a:solidFill>
          <a:ln cap="flat" cmpd="sng" w="12700">
            <a:solidFill>
              <a:srgbClr val="F5A6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6" name="Google Shape;66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55080" y="292608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4"/>
          <p:cNvSpPr/>
          <p:nvPr/>
        </p:nvSpPr>
        <p:spPr>
          <a:xfrm>
            <a:off x="6309360" y="3337560"/>
            <a:ext cx="22402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3800"/>
              <a:buFont typeface="Georgia"/>
              <a:buNone/>
            </a:pPr>
            <a:r>
              <a:rPr b="1" i="0" lang="en-US" sz="3800" u="none" cap="none" strike="noStrike">
                <a:solidFill>
                  <a:srgbClr val="0A2540"/>
                </a:solidFill>
                <a:latin typeface="Georgia"/>
                <a:ea typeface="Georgia"/>
                <a:cs typeface="Georgia"/>
                <a:sym typeface="Georgia"/>
              </a:rPr>
              <a:t>1 in 4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4"/>
          <p:cNvSpPr/>
          <p:nvPr/>
        </p:nvSpPr>
        <p:spPr>
          <a:xfrm>
            <a:off x="6309360" y="3977640"/>
            <a:ext cx="22402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delay needed urgent care out of uncertainty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4"/>
          <p:cNvSpPr/>
          <p:nvPr/>
        </p:nvSpPr>
        <p:spPr>
          <a:xfrm>
            <a:off x="457200" y="4526280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Sources: CDC NHAMCS; NEJM Catalyst; Health Affairs.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0" name="Google Shape;70;p4"/>
          <p:cNvCxnSpPr/>
          <p:nvPr/>
        </p:nvCxnSpPr>
        <p:spPr>
          <a:xfrm>
            <a:off x="457200" y="4800600"/>
            <a:ext cx="8229600" cy="0"/>
          </a:xfrm>
          <a:prstGeom prst="straightConnector1">
            <a:avLst/>
          </a:prstGeom>
          <a:noFill/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1" name="Google Shape;71;p4"/>
          <p:cNvSpPr/>
          <p:nvPr/>
        </p:nvSpPr>
        <p:spPr>
          <a:xfrm>
            <a:off x="457200" y="4864608"/>
            <a:ext cx="3657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MedRoute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4"/>
          <p:cNvSpPr/>
          <p:nvPr/>
        </p:nvSpPr>
        <p:spPr>
          <a:xfrm>
            <a:off x="4114800" y="4864608"/>
            <a:ext cx="3657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Byte Beasts  ·  CareDevi AI Hackathon 2026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4"/>
          <p:cNvSpPr/>
          <p:nvPr/>
        </p:nvSpPr>
        <p:spPr>
          <a:xfrm>
            <a:off x="7772400" y="4864608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2 / 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5"/>
          <p:cNvSpPr/>
          <p:nvPr/>
        </p:nvSpPr>
        <p:spPr>
          <a:xfrm>
            <a:off x="457200" y="41148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A6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0B4A6"/>
                </a:solidFill>
                <a:latin typeface="Calibri"/>
                <a:ea typeface="Calibri"/>
                <a:cs typeface="Calibri"/>
                <a:sym typeface="Calibri"/>
              </a:rPr>
              <a:t>THE SOLUTION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5"/>
          <p:cNvSpPr/>
          <p:nvPr/>
        </p:nvSpPr>
        <p:spPr>
          <a:xfrm>
            <a:off x="457200" y="73152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3000"/>
              <a:buFont typeface="Georgia"/>
              <a:buNone/>
            </a:pPr>
            <a:r>
              <a:rPr b="1" i="0" lang="en-US" sz="3000" u="none" cap="none" strike="noStrike">
                <a:solidFill>
                  <a:srgbClr val="0A2540"/>
                </a:solidFill>
                <a:latin typeface="Georgia"/>
                <a:ea typeface="Georgia"/>
                <a:cs typeface="Georgia"/>
                <a:sym typeface="Georgia"/>
              </a:rPr>
              <a:t>Plain-language symptoms in.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5"/>
          <p:cNvSpPr/>
          <p:nvPr/>
        </p:nvSpPr>
        <p:spPr>
          <a:xfrm>
            <a:off x="457200" y="123444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8C82"/>
              </a:buClr>
              <a:buSzPts val="2200"/>
              <a:buFont typeface="Calibri"/>
              <a:buNone/>
            </a:pPr>
            <a:r>
              <a:rPr b="0" i="0" lang="en-US" sz="2200" u="none" cap="none" strike="noStrike">
                <a:solidFill>
                  <a:srgbClr val="008C82"/>
                </a:solidFill>
                <a:latin typeface="Calibri"/>
                <a:ea typeface="Calibri"/>
                <a:cs typeface="Calibri"/>
                <a:sym typeface="Calibri"/>
              </a:rPr>
              <a:t>A clear urgency tier and a map of nearby care out.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5"/>
          <p:cNvSpPr/>
          <p:nvPr/>
        </p:nvSpPr>
        <p:spPr>
          <a:xfrm>
            <a:off x="457200" y="2011680"/>
            <a:ext cx="2697480" cy="2286000"/>
          </a:xfrm>
          <a:prstGeom prst="rect">
            <a:avLst/>
          </a:prstGeom>
          <a:solidFill>
            <a:srgbClr val="F5F7FA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5"/>
          <p:cNvSpPr/>
          <p:nvPr/>
        </p:nvSpPr>
        <p:spPr>
          <a:xfrm>
            <a:off x="731520" y="2194560"/>
            <a:ext cx="502920" cy="502920"/>
          </a:xfrm>
          <a:prstGeom prst="ellipse">
            <a:avLst/>
          </a:prstGeom>
          <a:solidFill>
            <a:srgbClr val="00B4A6"/>
          </a:solidFill>
          <a:ln cap="flat" cmpd="sng" w="12700">
            <a:solidFill>
              <a:srgbClr val="00B4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5"/>
          <p:cNvSpPr/>
          <p:nvPr/>
        </p:nvSpPr>
        <p:spPr>
          <a:xfrm>
            <a:off x="731520" y="219456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85" name="Google Shape;85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77440" y="2240280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5"/>
          <p:cNvSpPr/>
          <p:nvPr/>
        </p:nvSpPr>
        <p:spPr>
          <a:xfrm>
            <a:off x="731520" y="2834640"/>
            <a:ext cx="21488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Conversational intake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5"/>
          <p:cNvSpPr/>
          <p:nvPr/>
        </p:nvSpPr>
        <p:spPr>
          <a:xfrm>
            <a:off x="731520" y="3291840"/>
            <a:ext cx="21488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 3–6 turn AI interview. One focused question at a time — never a wall of forms.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5"/>
          <p:cNvSpPr/>
          <p:nvPr/>
        </p:nvSpPr>
        <p:spPr>
          <a:xfrm>
            <a:off x="3291840" y="2011680"/>
            <a:ext cx="2697480" cy="2286000"/>
          </a:xfrm>
          <a:prstGeom prst="rect">
            <a:avLst/>
          </a:prstGeom>
          <a:solidFill>
            <a:srgbClr val="F5F7FA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5"/>
          <p:cNvSpPr/>
          <p:nvPr/>
        </p:nvSpPr>
        <p:spPr>
          <a:xfrm>
            <a:off x="3566160" y="2194560"/>
            <a:ext cx="502920" cy="502920"/>
          </a:xfrm>
          <a:prstGeom prst="ellipse">
            <a:avLst/>
          </a:prstGeom>
          <a:solidFill>
            <a:srgbClr val="00B4A6"/>
          </a:solidFill>
          <a:ln cap="flat" cmpd="sng" w="12700">
            <a:solidFill>
              <a:srgbClr val="00B4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5"/>
          <p:cNvSpPr/>
          <p:nvPr/>
        </p:nvSpPr>
        <p:spPr>
          <a:xfrm>
            <a:off x="3566160" y="219456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91" name="Google Shape;91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212080" y="2240280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5"/>
          <p:cNvSpPr/>
          <p:nvPr/>
        </p:nvSpPr>
        <p:spPr>
          <a:xfrm>
            <a:off x="3566160" y="2834640"/>
            <a:ext cx="21488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Tiered urgency verdict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5"/>
          <p:cNvSpPr/>
          <p:nvPr/>
        </p:nvSpPr>
        <p:spPr>
          <a:xfrm>
            <a:off x="3566160" y="3291840"/>
            <a:ext cx="21488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Emergency, urgent, semi-urgent, routine, or self-care — with action steps.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5"/>
          <p:cNvSpPr/>
          <p:nvPr/>
        </p:nvSpPr>
        <p:spPr>
          <a:xfrm>
            <a:off x="6126480" y="2011680"/>
            <a:ext cx="2697480" cy="2286000"/>
          </a:xfrm>
          <a:prstGeom prst="rect">
            <a:avLst/>
          </a:prstGeom>
          <a:solidFill>
            <a:srgbClr val="F5F7FA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5"/>
          <p:cNvSpPr/>
          <p:nvPr/>
        </p:nvSpPr>
        <p:spPr>
          <a:xfrm>
            <a:off x="6400800" y="2194560"/>
            <a:ext cx="502920" cy="502920"/>
          </a:xfrm>
          <a:prstGeom prst="ellipse">
            <a:avLst/>
          </a:prstGeom>
          <a:solidFill>
            <a:srgbClr val="00B4A6"/>
          </a:solidFill>
          <a:ln cap="flat" cmpd="sng" w="12700">
            <a:solidFill>
              <a:srgbClr val="00B4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5"/>
          <p:cNvSpPr/>
          <p:nvPr/>
        </p:nvSpPr>
        <p:spPr>
          <a:xfrm>
            <a:off x="6400800" y="219456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97" name="Google Shape;97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046720" y="2240280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5"/>
          <p:cNvSpPr/>
          <p:nvPr/>
        </p:nvSpPr>
        <p:spPr>
          <a:xfrm>
            <a:off x="6400800" y="2834640"/>
            <a:ext cx="21488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Right-care map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5"/>
          <p:cNvSpPr/>
          <p:nvPr/>
        </p:nvSpPr>
        <p:spPr>
          <a:xfrm>
            <a:off x="6400800" y="3291840"/>
            <a:ext cx="21488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Live OpenStreetMap pins of the right facility type for that specific tier.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5"/>
          <p:cNvSpPr/>
          <p:nvPr/>
        </p:nvSpPr>
        <p:spPr>
          <a:xfrm>
            <a:off x="457200" y="4434840"/>
            <a:ext cx="8229600" cy="292608"/>
          </a:xfrm>
          <a:prstGeom prst="rect">
            <a:avLst/>
          </a:prstGeom>
          <a:solidFill>
            <a:srgbClr val="0A2540"/>
          </a:solidFill>
          <a:ln cap="flat" cmpd="sng" w="12700">
            <a:solidFill>
              <a:srgbClr val="0A25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5"/>
          <p:cNvSpPr/>
          <p:nvPr/>
        </p:nvSpPr>
        <p:spPr>
          <a:xfrm>
            <a:off x="640080" y="4443984"/>
            <a:ext cx="7955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A6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0B4A6"/>
                </a:solidFill>
                <a:latin typeface="Calibri"/>
                <a:ea typeface="Calibri"/>
                <a:cs typeface="Calibri"/>
                <a:sym typeface="Calibri"/>
              </a:rPr>
              <a:t>BUILT FOR  </a:t>
            </a: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patients deciding pre-visit care — no account, no API key, no friction.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2" name="Google Shape;102;p5"/>
          <p:cNvCxnSpPr/>
          <p:nvPr/>
        </p:nvCxnSpPr>
        <p:spPr>
          <a:xfrm>
            <a:off x="457200" y="4800600"/>
            <a:ext cx="8229600" cy="0"/>
          </a:xfrm>
          <a:prstGeom prst="straightConnector1">
            <a:avLst/>
          </a:prstGeom>
          <a:noFill/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3" name="Google Shape;103;p5"/>
          <p:cNvSpPr/>
          <p:nvPr/>
        </p:nvSpPr>
        <p:spPr>
          <a:xfrm>
            <a:off x="457200" y="4864608"/>
            <a:ext cx="3657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MedRoute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5"/>
          <p:cNvSpPr/>
          <p:nvPr/>
        </p:nvSpPr>
        <p:spPr>
          <a:xfrm>
            <a:off x="4114800" y="4864608"/>
            <a:ext cx="3657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Byte Beasts  ·  CareDevi AI Hackathon 2026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5"/>
          <p:cNvSpPr/>
          <p:nvPr/>
        </p:nvSpPr>
        <p:spPr>
          <a:xfrm>
            <a:off x="7772400" y="4864608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3 / 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6"/>
          <p:cNvSpPr/>
          <p:nvPr/>
        </p:nvSpPr>
        <p:spPr>
          <a:xfrm>
            <a:off x="457200" y="731520"/>
            <a:ext cx="82296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3000"/>
              <a:buFont typeface="Georgia"/>
              <a:buNone/>
            </a:pPr>
            <a:r>
              <a:rPr b="1" lang="en-US" sz="3000">
                <a:solidFill>
                  <a:srgbClr val="0A2540"/>
                </a:solidFill>
                <a:latin typeface="Georgia"/>
                <a:ea typeface="Georgia"/>
                <a:cs typeface="Georgia"/>
                <a:sym typeface="Georgia"/>
              </a:rPr>
              <a:t>Demo</a:t>
            </a:r>
            <a:endParaRPr b="1" sz="3000">
              <a:solidFill>
                <a:srgbClr val="0A254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pic>
        <p:nvPicPr>
          <p:cNvPr id="112" name="Google Shape;112;p6" title="Speedup-Demo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1386720"/>
            <a:ext cx="4572000" cy="3429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7FA"/>
        </a:solid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7"/>
          <p:cNvSpPr/>
          <p:nvPr/>
        </p:nvSpPr>
        <p:spPr>
          <a:xfrm>
            <a:off x="457200" y="41148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A6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0B4A6"/>
                </a:solidFill>
                <a:latin typeface="Calibri"/>
                <a:ea typeface="Calibri"/>
                <a:cs typeface="Calibri"/>
                <a:sym typeface="Calibri"/>
              </a:rPr>
              <a:t>UNDER THE HOOD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7"/>
          <p:cNvSpPr/>
          <p:nvPr/>
        </p:nvSpPr>
        <p:spPr>
          <a:xfrm>
            <a:off x="457200" y="73152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3000"/>
              <a:buFont typeface="Georgia"/>
              <a:buNone/>
            </a:pPr>
            <a:r>
              <a:rPr b="1" i="0" lang="en-US" sz="3000" u="none" cap="none" strike="noStrike">
                <a:solidFill>
                  <a:srgbClr val="0A2540"/>
                </a:solidFill>
                <a:latin typeface="Georgia"/>
                <a:ea typeface="Georgia"/>
                <a:cs typeface="Georgia"/>
                <a:sym typeface="Georgia"/>
              </a:rPr>
              <a:t>Four decisions we're proud of.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7"/>
          <p:cNvSpPr/>
          <p:nvPr/>
        </p:nvSpPr>
        <p:spPr>
          <a:xfrm>
            <a:off x="457200" y="1417320"/>
            <a:ext cx="4023360" cy="150876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127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7"/>
          <p:cNvSpPr/>
          <p:nvPr/>
        </p:nvSpPr>
        <p:spPr>
          <a:xfrm>
            <a:off x="457200" y="1417320"/>
            <a:ext cx="73152" cy="1508760"/>
          </a:xfrm>
          <a:prstGeom prst="rect">
            <a:avLst/>
          </a:prstGeom>
          <a:solidFill>
            <a:srgbClr val="00B4A6"/>
          </a:solidFill>
          <a:ln cap="flat" cmpd="sng" w="12700">
            <a:solidFill>
              <a:srgbClr val="00B4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7"/>
          <p:cNvSpPr/>
          <p:nvPr/>
        </p:nvSpPr>
        <p:spPr>
          <a:xfrm>
            <a:off x="713232" y="1645920"/>
            <a:ext cx="502920" cy="502920"/>
          </a:xfrm>
          <a:prstGeom prst="rect">
            <a:avLst/>
          </a:prstGeom>
          <a:solidFill>
            <a:srgbClr val="E0F5F3"/>
          </a:solidFill>
          <a:ln cap="flat" cmpd="sng" w="12700">
            <a:solidFill>
              <a:srgbClr val="E0F5F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23" name="Google Shape;123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6384" y="1719072"/>
            <a:ext cx="356616" cy="356616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7"/>
          <p:cNvSpPr/>
          <p:nvPr/>
        </p:nvSpPr>
        <p:spPr>
          <a:xfrm>
            <a:off x="1371600" y="1618488"/>
            <a:ext cx="2926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Tier-aware facility routing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7"/>
          <p:cNvSpPr/>
          <p:nvPr/>
        </p:nvSpPr>
        <p:spPr>
          <a:xfrm>
            <a:off x="1371600" y="2011680"/>
            <a:ext cx="29260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The Overpass query rewrites itself based on the verdict — emergency → hospital, urgent → clinic, self-care → pharmacy. The map literally changes shape with the decision.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7"/>
          <p:cNvSpPr/>
          <p:nvPr/>
        </p:nvSpPr>
        <p:spPr>
          <a:xfrm>
            <a:off x="4663440" y="1417320"/>
            <a:ext cx="4023360" cy="150876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127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7"/>
          <p:cNvSpPr/>
          <p:nvPr/>
        </p:nvSpPr>
        <p:spPr>
          <a:xfrm>
            <a:off x="4663440" y="1417320"/>
            <a:ext cx="73152" cy="1508760"/>
          </a:xfrm>
          <a:prstGeom prst="rect">
            <a:avLst/>
          </a:prstGeom>
          <a:solidFill>
            <a:srgbClr val="00B4A6"/>
          </a:solidFill>
          <a:ln cap="flat" cmpd="sng" w="12700">
            <a:solidFill>
              <a:srgbClr val="00B4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7"/>
          <p:cNvSpPr/>
          <p:nvPr/>
        </p:nvSpPr>
        <p:spPr>
          <a:xfrm>
            <a:off x="4919472" y="1645920"/>
            <a:ext cx="502920" cy="502920"/>
          </a:xfrm>
          <a:prstGeom prst="rect">
            <a:avLst/>
          </a:prstGeom>
          <a:solidFill>
            <a:srgbClr val="E0F5F3"/>
          </a:solidFill>
          <a:ln cap="flat" cmpd="sng" w="12700">
            <a:solidFill>
              <a:srgbClr val="E0F5F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29" name="Google Shape;129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92624" y="1719072"/>
            <a:ext cx="356616" cy="356616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7"/>
          <p:cNvSpPr/>
          <p:nvPr/>
        </p:nvSpPr>
        <p:spPr>
          <a:xfrm>
            <a:off x="5577840" y="1618488"/>
            <a:ext cx="2926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Structured LLM output protocol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7"/>
          <p:cNvSpPr/>
          <p:nvPr/>
        </p:nvSpPr>
        <p:spPr>
          <a:xfrm>
            <a:off x="5577840" y="2011680"/>
            <a:ext cx="29260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Custom |||ASSESSMENT||| delimiters split natural-language reply from JSON verdict. Regex fallback when the model forgets — fewer hallucinations, cleaner UI.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7"/>
          <p:cNvSpPr/>
          <p:nvPr/>
        </p:nvSpPr>
        <p:spPr>
          <a:xfrm>
            <a:off x="457200" y="3063240"/>
            <a:ext cx="4023360" cy="150876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127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7"/>
          <p:cNvSpPr/>
          <p:nvPr/>
        </p:nvSpPr>
        <p:spPr>
          <a:xfrm>
            <a:off x="457200" y="3063240"/>
            <a:ext cx="73152" cy="1508760"/>
          </a:xfrm>
          <a:prstGeom prst="rect">
            <a:avLst/>
          </a:prstGeom>
          <a:solidFill>
            <a:srgbClr val="00B4A6"/>
          </a:solidFill>
          <a:ln cap="flat" cmpd="sng" w="12700">
            <a:solidFill>
              <a:srgbClr val="00B4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7"/>
          <p:cNvSpPr/>
          <p:nvPr/>
        </p:nvSpPr>
        <p:spPr>
          <a:xfrm>
            <a:off x="713232" y="3291840"/>
            <a:ext cx="502920" cy="502920"/>
          </a:xfrm>
          <a:prstGeom prst="rect">
            <a:avLst/>
          </a:prstGeom>
          <a:solidFill>
            <a:srgbClr val="E0F5F3"/>
          </a:solidFill>
          <a:ln cap="flat" cmpd="sng" w="12700">
            <a:solidFill>
              <a:srgbClr val="E0F5F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5" name="Google Shape;135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86384" y="3364992"/>
            <a:ext cx="356616" cy="356616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7"/>
          <p:cNvSpPr/>
          <p:nvPr/>
        </p:nvSpPr>
        <p:spPr>
          <a:xfrm>
            <a:off x="1371600" y="3264408"/>
            <a:ext cx="2926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Disciplined system prompt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7"/>
          <p:cNvSpPr/>
          <p:nvPr/>
        </p:nvSpPr>
        <p:spPr>
          <a:xfrm>
            <a:off x="1371600" y="3657600"/>
            <a:ext cx="29260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One question at a time. 3–6 turn cap. Hard rule: any life-threatening signal → immediate 911 + emergency tier. No drug doses. No diagnoses.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7"/>
          <p:cNvSpPr/>
          <p:nvPr/>
        </p:nvSpPr>
        <p:spPr>
          <a:xfrm>
            <a:off x="4663440" y="3063240"/>
            <a:ext cx="4023360" cy="150876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127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7"/>
          <p:cNvSpPr/>
          <p:nvPr/>
        </p:nvSpPr>
        <p:spPr>
          <a:xfrm>
            <a:off x="4663440" y="3063240"/>
            <a:ext cx="73152" cy="1508760"/>
          </a:xfrm>
          <a:prstGeom prst="rect">
            <a:avLst/>
          </a:prstGeom>
          <a:solidFill>
            <a:srgbClr val="00B4A6"/>
          </a:solidFill>
          <a:ln cap="flat" cmpd="sng" w="12700">
            <a:solidFill>
              <a:srgbClr val="00B4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7"/>
          <p:cNvSpPr/>
          <p:nvPr/>
        </p:nvSpPr>
        <p:spPr>
          <a:xfrm>
            <a:off x="4919472" y="3291840"/>
            <a:ext cx="502920" cy="502920"/>
          </a:xfrm>
          <a:prstGeom prst="rect">
            <a:avLst/>
          </a:prstGeom>
          <a:solidFill>
            <a:srgbClr val="E0F5F3"/>
          </a:solidFill>
          <a:ln cap="flat" cmpd="sng" w="12700">
            <a:solidFill>
              <a:srgbClr val="E0F5F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41" name="Google Shape;141;p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992624" y="3364992"/>
            <a:ext cx="356616" cy="356616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7"/>
          <p:cNvSpPr/>
          <p:nvPr/>
        </p:nvSpPr>
        <p:spPr>
          <a:xfrm>
            <a:off x="5577840" y="3264408"/>
            <a:ext cx="2926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60-line server, zero PHI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7"/>
          <p:cNvSpPr/>
          <p:nvPr/>
        </p:nvSpPr>
        <p:spPr>
          <a:xfrm>
            <a:off x="5577840" y="3657600"/>
            <a:ext cx="29260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Single Express proxy. API key never reaches the browser. No DB. No auth. No patient data ever stored. Llama-3.3-70B via Groq.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7"/>
          <p:cNvSpPr/>
          <p:nvPr/>
        </p:nvSpPr>
        <p:spPr>
          <a:xfrm>
            <a:off x="457200" y="4572000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A6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0B4A6"/>
                </a:solidFill>
                <a:latin typeface="Calibri"/>
                <a:ea typeface="Calibri"/>
                <a:cs typeface="Calibri"/>
                <a:sym typeface="Calibri"/>
              </a:rPr>
              <a:t>STACK  </a:t>
            </a: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React + Vite  ·  Node/Express  ·  Groq Llama-3.3-70B  ·  Leaflet + OSM Overpass  ·  Railway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5" name="Google Shape;145;p7"/>
          <p:cNvCxnSpPr/>
          <p:nvPr/>
        </p:nvCxnSpPr>
        <p:spPr>
          <a:xfrm>
            <a:off x="457200" y="4800600"/>
            <a:ext cx="8229600" cy="0"/>
          </a:xfrm>
          <a:prstGeom prst="straightConnector1">
            <a:avLst/>
          </a:prstGeom>
          <a:noFill/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6" name="Google Shape;146;p7"/>
          <p:cNvSpPr/>
          <p:nvPr/>
        </p:nvSpPr>
        <p:spPr>
          <a:xfrm>
            <a:off x="457200" y="4864608"/>
            <a:ext cx="3657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MedRoute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7"/>
          <p:cNvSpPr/>
          <p:nvPr/>
        </p:nvSpPr>
        <p:spPr>
          <a:xfrm>
            <a:off x="4114800" y="4864608"/>
            <a:ext cx="3657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Byte Beasts  ·  CareDevi AI Hackathon 2026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7"/>
          <p:cNvSpPr/>
          <p:nvPr/>
        </p:nvSpPr>
        <p:spPr>
          <a:xfrm>
            <a:off x="7772400" y="4864608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4 / 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8"/>
          <p:cNvSpPr/>
          <p:nvPr/>
        </p:nvSpPr>
        <p:spPr>
          <a:xfrm>
            <a:off x="457200" y="41148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A6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0B4A6"/>
                </a:solidFill>
                <a:latin typeface="Calibri"/>
                <a:ea typeface="Calibri"/>
                <a:cs typeface="Calibri"/>
                <a:sym typeface="Calibri"/>
              </a:rPr>
              <a:t>LIVE DEMO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8"/>
          <p:cNvSpPr/>
          <p:nvPr/>
        </p:nvSpPr>
        <p:spPr>
          <a:xfrm>
            <a:off x="457200" y="73152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2600"/>
              <a:buFont typeface="Georgia"/>
              <a:buNone/>
            </a:pPr>
            <a:r>
              <a:rPr b="1" i="0" lang="en-US" sz="2600" u="none" cap="none" strike="noStrike">
                <a:solidFill>
                  <a:srgbClr val="0A2540"/>
                </a:solidFill>
                <a:latin typeface="Georgia"/>
                <a:ea typeface="Georgia"/>
                <a:cs typeface="Georgia"/>
                <a:sym typeface="Georgia"/>
              </a:rPr>
              <a:t>From symptom to next step — in under a minute.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8"/>
          <p:cNvSpPr/>
          <p:nvPr/>
        </p:nvSpPr>
        <p:spPr>
          <a:xfrm>
            <a:off x="457200" y="1417320"/>
            <a:ext cx="3931920" cy="3108960"/>
          </a:xfrm>
          <a:prstGeom prst="rect">
            <a:avLst/>
          </a:prstGeom>
          <a:solidFill>
            <a:srgbClr val="F5F7FA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8"/>
          <p:cNvSpPr/>
          <p:nvPr/>
        </p:nvSpPr>
        <p:spPr>
          <a:xfrm>
            <a:off x="457200" y="1417320"/>
            <a:ext cx="3931920" cy="411480"/>
          </a:xfrm>
          <a:prstGeom prst="rect">
            <a:avLst/>
          </a:prstGeom>
          <a:solidFill>
            <a:srgbClr val="0A2540"/>
          </a:solidFill>
          <a:ln cap="flat" cmpd="sng" w="12700">
            <a:solidFill>
              <a:srgbClr val="0A25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58" name="Google Shape;158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1792" y="1508760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8"/>
          <p:cNvSpPr/>
          <p:nvPr/>
        </p:nvSpPr>
        <p:spPr>
          <a:xfrm>
            <a:off x="914400" y="1481328"/>
            <a:ext cx="3017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MedRoute Triage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8"/>
          <p:cNvSpPr/>
          <p:nvPr/>
        </p:nvSpPr>
        <p:spPr>
          <a:xfrm>
            <a:off x="1097280" y="1965960"/>
            <a:ext cx="3108960" cy="502920"/>
          </a:xfrm>
          <a:prstGeom prst="roundRect">
            <a:avLst>
              <a:gd fmla="val 14545" name="adj"/>
            </a:avLst>
          </a:prstGeom>
          <a:solidFill>
            <a:srgbClr val="00B4A6"/>
          </a:solidFill>
          <a:ln cap="flat" cmpd="sng" w="9525">
            <a:solidFill>
              <a:srgbClr val="00B4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8"/>
          <p:cNvSpPr/>
          <p:nvPr/>
        </p:nvSpPr>
        <p:spPr>
          <a:xfrm>
            <a:off x="1234440" y="2011680"/>
            <a:ext cx="28346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Sharp chest pain, 2 hrs, worse on inhale.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8"/>
          <p:cNvSpPr/>
          <p:nvPr/>
        </p:nvSpPr>
        <p:spPr>
          <a:xfrm>
            <a:off x="640080" y="2560320"/>
            <a:ext cx="3108960" cy="502920"/>
          </a:xfrm>
          <a:prstGeom prst="roundRect">
            <a:avLst>
              <a:gd fmla="val 14545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8"/>
          <p:cNvSpPr/>
          <p:nvPr/>
        </p:nvSpPr>
        <p:spPr>
          <a:xfrm>
            <a:off x="777240" y="2606040"/>
            <a:ext cx="28346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B2D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0F1B2D"/>
                </a:solidFill>
                <a:latin typeface="Calibri"/>
                <a:ea typeface="Calibri"/>
                <a:cs typeface="Calibri"/>
                <a:sym typeface="Calibri"/>
              </a:rPr>
              <a:t>Any shortness of breath or pain in your arm?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8"/>
          <p:cNvSpPr/>
          <p:nvPr/>
        </p:nvSpPr>
        <p:spPr>
          <a:xfrm>
            <a:off x="1097280" y="3154680"/>
            <a:ext cx="3108960" cy="502920"/>
          </a:xfrm>
          <a:prstGeom prst="roundRect">
            <a:avLst>
              <a:gd fmla="val 14545" name="adj"/>
            </a:avLst>
          </a:prstGeom>
          <a:solidFill>
            <a:srgbClr val="00B4A6"/>
          </a:solidFill>
          <a:ln cap="flat" cmpd="sng" w="9525">
            <a:solidFill>
              <a:srgbClr val="00B4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8"/>
          <p:cNvSpPr/>
          <p:nvPr/>
        </p:nvSpPr>
        <p:spPr>
          <a:xfrm>
            <a:off x="1234440" y="3200400"/>
            <a:ext cx="28346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 little short of breath, no arm pain.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8"/>
          <p:cNvSpPr/>
          <p:nvPr/>
        </p:nvSpPr>
        <p:spPr>
          <a:xfrm>
            <a:off x="640080" y="3749040"/>
            <a:ext cx="3566160" cy="640080"/>
          </a:xfrm>
          <a:prstGeom prst="rect">
            <a:avLst/>
          </a:prstGeom>
          <a:solidFill>
            <a:srgbClr val="FFF1F1"/>
          </a:solidFill>
          <a:ln cap="flat" cmpd="sng" w="12700">
            <a:solidFill>
              <a:srgbClr val="FF6B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8"/>
          <p:cNvSpPr/>
          <p:nvPr/>
        </p:nvSpPr>
        <p:spPr>
          <a:xfrm>
            <a:off x="640080" y="3749040"/>
            <a:ext cx="73152" cy="640080"/>
          </a:xfrm>
          <a:prstGeom prst="rect">
            <a:avLst/>
          </a:prstGeom>
          <a:solidFill>
            <a:srgbClr val="FF6B6B"/>
          </a:solidFill>
          <a:ln cap="flat" cmpd="sng" w="12700">
            <a:solidFill>
              <a:srgbClr val="FF6B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8"/>
          <p:cNvSpPr/>
          <p:nvPr/>
        </p:nvSpPr>
        <p:spPr>
          <a:xfrm>
            <a:off x="822960" y="3794760"/>
            <a:ext cx="3383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6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6B6B"/>
                </a:solidFill>
                <a:latin typeface="Calibri"/>
                <a:ea typeface="Calibri"/>
                <a:cs typeface="Calibri"/>
                <a:sym typeface="Calibri"/>
              </a:rPr>
              <a:t>URGENT  </a:t>
            </a:r>
            <a:r>
              <a:rPr b="1" i="0" lang="en-US" sz="1100" u="none" cap="none" strike="noStrike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Get evaluated within 2 hours.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8"/>
          <p:cNvSpPr/>
          <p:nvPr/>
        </p:nvSpPr>
        <p:spPr>
          <a:xfrm>
            <a:off x="822960" y="4078224"/>
            <a:ext cx="33832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b="0" i="1" lang="en-US" sz="9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Showing 3 nearest urgent care clinics  →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8"/>
          <p:cNvSpPr/>
          <p:nvPr/>
        </p:nvSpPr>
        <p:spPr>
          <a:xfrm>
            <a:off x="4617720" y="1417320"/>
            <a:ext cx="4069080" cy="713232"/>
          </a:xfrm>
          <a:prstGeom prst="rect">
            <a:avLst/>
          </a:prstGeom>
          <a:solidFill>
            <a:srgbClr val="F5F7FA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8"/>
          <p:cNvSpPr/>
          <p:nvPr/>
        </p:nvSpPr>
        <p:spPr>
          <a:xfrm>
            <a:off x="4754880" y="1536192"/>
            <a:ext cx="475488" cy="47548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00B4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72" name="Google Shape;172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18888" y="1600200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8"/>
          <p:cNvSpPr/>
          <p:nvPr/>
        </p:nvSpPr>
        <p:spPr>
          <a:xfrm>
            <a:off x="5394960" y="1481328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60-second triage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8"/>
          <p:cNvSpPr/>
          <p:nvPr/>
        </p:nvSpPr>
        <p:spPr>
          <a:xfrm>
            <a:off x="5394960" y="1746504"/>
            <a:ext cx="3200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3–6 question conversational interview.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8"/>
          <p:cNvSpPr/>
          <p:nvPr/>
        </p:nvSpPr>
        <p:spPr>
          <a:xfrm>
            <a:off x="4617720" y="2221992"/>
            <a:ext cx="4069080" cy="713232"/>
          </a:xfrm>
          <a:prstGeom prst="rect">
            <a:avLst/>
          </a:prstGeom>
          <a:solidFill>
            <a:srgbClr val="F5F7FA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8"/>
          <p:cNvSpPr/>
          <p:nvPr/>
        </p:nvSpPr>
        <p:spPr>
          <a:xfrm>
            <a:off x="4754880" y="2340864"/>
            <a:ext cx="475488" cy="47548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00B4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77" name="Google Shape;177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818888" y="2404872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8"/>
          <p:cNvSpPr/>
          <p:nvPr/>
        </p:nvSpPr>
        <p:spPr>
          <a:xfrm>
            <a:off x="5394960" y="2286000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Geo-aware routing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8"/>
          <p:cNvSpPr/>
          <p:nvPr/>
        </p:nvSpPr>
        <p:spPr>
          <a:xfrm>
            <a:off x="5394960" y="2551176"/>
            <a:ext cx="3200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Top 3 facilities ranked by haversine distance.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8"/>
          <p:cNvSpPr/>
          <p:nvPr/>
        </p:nvSpPr>
        <p:spPr>
          <a:xfrm>
            <a:off x="4617720" y="3026664"/>
            <a:ext cx="4069080" cy="713232"/>
          </a:xfrm>
          <a:prstGeom prst="rect">
            <a:avLst/>
          </a:prstGeom>
          <a:solidFill>
            <a:srgbClr val="F5F7FA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8"/>
          <p:cNvSpPr/>
          <p:nvPr/>
        </p:nvSpPr>
        <p:spPr>
          <a:xfrm>
            <a:off x="4754880" y="3145536"/>
            <a:ext cx="475488" cy="47548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00B4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82" name="Google Shape;182;p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818888" y="3209544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8"/>
          <p:cNvSpPr/>
          <p:nvPr/>
        </p:nvSpPr>
        <p:spPr>
          <a:xfrm>
            <a:off x="5394960" y="3090672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Privacy by default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8"/>
          <p:cNvSpPr/>
          <p:nvPr/>
        </p:nvSpPr>
        <p:spPr>
          <a:xfrm>
            <a:off x="5394960" y="3355848"/>
            <a:ext cx="3200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No login. No PHI stored. Disclaimer on every result.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8"/>
          <p:cNvSpPr/>
          <p:nvPr/>
        </p:nvSpPr>
        <p:spPr>
          <a:xfrm>
            <a:off x="4617720" y="3831336"/>
            <a:ext cx="4069080" cy="713232"/>
          </a:xfrm>
          <a:prstGeom prst="rect">
            <a:avLst/>
          </a:prstGeom>
          <a:solidFill>
            <a:srgbClr val="F5F7FA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8"/>
          <p:cNvSpPr/>
          <p:nvPr/>
        </p:nvSpPr>
        <p:spPr>
          <a:xfrm>
            <a:off x="4754880" y="3950208"/>
            <a:ext cx="475488" cy="47548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00B4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87" name="Google Shape;187;p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818888" y="4014216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8"/>
          <p:cNvSpPr/>
          <p:nvPr/>
        </p:nvSpPr>
        <p:spPr>
          <a:xfrm>
            <a:off x="5394960" y="3895344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Session memory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8"/>
          <p:cNvSpPr/>
          <p:nvPr/>
        </p:nvSpPr>
        <p:spPr>
          <a:xfrm>
            <a:off x="5394960" y="4160520"/>
            <a:ext cx="3200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localStorage resume — refresh, never lose context.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0" name="Google Shape;190;p8"/>
          <p:cNvCxnSpPr/>
          <p:nvPr/>
        </p:nvCxnSpPr>
        <p:spPr>
          <a:xfrm>
            <a:off x="457200" y="4800600"/>
            <a:ext cx="8229600" cy="0"/>
          </a:xfrm>
          <a:prstGeom prst="straightConnector1">
            <a:avLst/>
          </a:prstGeom>
          <a:noFill/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1" name="Google Shape;191;p8"/>
          <p:cNvSpPr/>
          <p:nvPr/>
        </p:nvSpPr>
        <p:spPr>
          <a:xfrm>
            <a:off x="457200" y="4864608"/>
            <a:ext cx="3657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MedRoute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8"/>
          <p:cNvSpPr/>
          <p:nvPr/>
        </p:nvSpPr>
        <p:spPr>
          <a:xfrm>
            <a:off x="4114800" y="4864608"/>
            <a:ext cx="3657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Byte Beasts  ·  CareDevi AI Hackathon 2026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8"/>
          <p:cNvSpPr/>
          <p:nvPr/>
        </p:nvSpPr>
        <p:spPr>
          <a:xfrm>
            <a:off x="7772400" y="4864608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5 / 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2540"/>
        </a:solidFill>
      </p:bgPr>
    </p:bg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9"/>
          <p:cNvSpPr/>
          <p:nvPr/>
        </p:nvSpPr>
        <p:spPr>
          <a:xfrm>
            <a:off x="457200" y="457200"/>
            <a:ext cx="73152" cy="640080"/>
          </a:xfrm>
          <a:prstGeom prst="rect">
            <a:avLst/>
          </a:prstGeom>
          <a:solidFill>
            <a:srgbClr val="FF6B6B"/>
          </a:solidFill>
          <a:ln cap="flat" cmpd="sng" w="12700">
            <a:solidFill>
              <a:srgbClr val="FF6B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9"/>
          <p:cNvSpPr/>
          <p:nvPr/>
        </p:nvSpPr>
        <p:spPr>
          <a:xfrm>
            <a:off x="640080" y="45720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A6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0B4A6"/>
                </a:solidFill>
                <a:latin typeface="Calibri"/>
                <a:ea typeface="Calibri"/>
                <a:cs typeface="Calibri"/>
                <a:sym typeface="Calibri"/>
              </a:rPr>
              <a:t>WHY BYTE BEASTS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9"/>
          <p:cNvSpPr/>
          <p:nvPr/>
        </p:nvSpPr>
        <p:spPr>
          <a:xfrm>
            <a:off x="457200" y="1005840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Georgia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We shipped a tight, working product.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9"/>
          <p:cNvSpPr/>
          <p:nvPr/>
        </p:nvSpPr>
        <p:spPr>
          <a:xfrm>
            <a:off x="457200" y="1627632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A6"/>
              </a:buClr>
              <a:buSzPts val="3000"/>
              <a:buFont typeface="Georgia"/>
              <a:buNone/>
            </a:pPr>
            <a:r>
              <a:rPr b="1" i="1" lang="en-US" sz="3000" u="none" cap="none" strike="noStrike">
                <a:solidFill>
                  <a:srgbClr val="00B4A6"/>
                </a:solidFill>
                <a:latin typeface="Georgia"/>
                <a:ea typeface="Georgia"/>
                <a:cs typeface="Georgia"/>
                <a:sym typeface="Georgia"/>
              </a:rPr>
              <a:t>With healthcare guardrails baked in.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9"/>
          <p:cNvSpPr/>
          <p:nvPr/>
        </p:nvSpPr>
        <p:spPr>
          <a:xfrm>
            <a:off x="457200" y="2468880"/>
            <a:ext cx="2697480" cy="1554480"/>
          </a:xfrm>
          <a:prstGeom prst="rect">
            <a:avLst/>
          </a:prstGeom>
          <a:solidFill>
            <a:srgbClr val="FFFFFF">
              <a:alpha val="7843"/>
            </a:srgbClr>
          </a:solidFill>
          <a:ln cap="flat" cmpd="sng" w="9525">
            <a:solidFill>
              <a:srgbClr val="FFFFFF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04" name="Google Shape;204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1520" y="2697480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9"/>
          <p:cNvSpPr/>
          <p:nvPr/>
        </p:nvSpPr>
        <p:spPr>
          <a:xfrm>
            <a:off x="731520" y="3182112"/>
            <a:ext cx="21488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Real impact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9"/>
          <p:cNvSpPr/>
          <p:nvPr/>
        </p:nvSpPr>
        <p:spPr>
          <a:xfrm>
            <a:off x="731520" y="3502152"/>
            <a:ext cx="21488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7D2D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7D2DE"/>
                </a:solidFill>
                <a:latin typeface="Calibri"/>
                <a:ea typeface="Calibri"/>
                <a:cs typeface="Calibri"/>
                <a:sym typeface="Calibri"/>
              </a:rPr>
              <a:t>Closes the gap between symptom and the right level of care.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9"/>
          <p:cNvSpPr/>
          <p:nvPr/>
        </p:nvSpPr>
        <p:spPr>
          <a:xfrm>
            <a:off x="3291840" y="2468880"/>
            <a:ext cx="2697480" cy="1554480"/>
          </a:xfrm>
          <a:prstGeom prst="rect">
            <a:avLst/>
          </a:prstGeom>
          <a:solidFill>
            <a:srgbClr val="FFFFFF">
              <a:alpha val="7843"/>
            </a:srgbClr>
          </a:solidFill>
          <a:ln cap="flat" cmpd="sng" w="9525">
            <a:solidFill>
              <a:srgbClr val="FFFFFF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08" name="Google Shape;208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66160" y="2697480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9"/>
          <p:cNvSpPr/>
          <p:nvPr/>
        </p:nvSpPr>
        <p:spPr>
          <a:xfrm>
            <a:off x="3566160" y="3182112"/>
            <a:ext cx="21488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Sharp scope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9"/>
          <p:cNvSpPr/>
          <p:nvPr/>
        </p:nvSpPr>
        <p:spPr>
          <a:xfrm>
            <a:off x="3566160" y="3502152"/>
            <a:ext cx="21488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7D2D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7D2DE"/>
                </a:solidFill>
                <a:latin typeface="Calibri"/>
                <a:ea typeface="Calibri"/>
                <a:cs typeface="Calibri"/>
                <a:sym typeface="Calibri"/>
              </a:rPr>
              <a:t>Built one thing. Built it well. No half-done features.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9"/>
          <p:cNvSpPr/>
          <p:nvPr/>
        </p:nvSpPr>
        <p:spPr>
          <a:xfrm>
            <a:off x="6126480" y="2468880"/>
            <a:ext cx="2697480" cy="1554480"/>
          </a:xfrm>
          <a:prstGeom prst="rect">
            <a:avLst/>
          </a:prstGeom>
          <a:solidFill>
            <a:srgbClr val="FFFFFF">
              <a:alpha val="7843"/>
            </a:srgbClr>
          </a:solidFill>
          <a:ln cap="flat" cmpd="sng" w="9525">
            <a:solidFill>
              <a:srgbClr val="FFFFFF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12" name="Google Shape;212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00800" y="2697480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9"/>
          <p:cNvSpPr/>
          <p:nvPr/>
        </p:nvSpPr>
        <p:spPr>
          <a:xfrm>
            <a:off x="6400800" y="3182112"/>
            <a:ext cx="21488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Responsible by design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9"/>
          <p:cNvSpPr/>
          <p:nvPr/>
        </p:nvSpPr>
        <p:spPr>
          <a:xfrm>
            <a:off x="6400800" y="3502152"/>
            <a:ext cx="21488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7D2D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7D2DE"/>
                </a:solidFill>
                <a:latin typeface="Calibri"/>
                <a:ea typeface="Calibri"/>
                <a:cs typeface="Calibri"/>
                <a:sym typeface="Calibri"/>
              </a:rPr>
              <a:t>No PHI, hard escalation rules, mandatory disclaimers, RAI doc shipped.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9"/>
          <p:cNvSpPr/>
          <p:nvPr/>
        </p:nvSpPr>
        <p:spPr>
          <a:xfrm>
            <a:off x="457200" y="4251960"/>
            <a:ext cx="8229600" cy="548640"/>
          </a:xfrm>
          <a:prstGeom prst="rect">
            <a:avLst/>
          </a:prstGeom>
          <a:solidFill>
            <a:srgbClr val="00B4A6"/>
          </a:solidFill>
          <a:ln cap="flat" cmpd="sng" w="12700">
            <a:solidFill>
              <a:srgbClr val="00B4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9"/>
          <p:cNvSpPr/>
          <p:nvPr/>
        </p:nvSpPr>
        <p:spPr>
          <a:xfrm>
            <a:off x="640080" y="4297680"/>
            <a:ext cx="79552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Try it now  →  </a:t>
            </a: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hackathon-2026-projects-production.up.railway.app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9"/>
          <p:cNvSpPr/>
          <p:nvPr/>
        </p:nvSpPr>
        <p:spPr>
          <a:xfrm>
            <a:off x="457200" y="4864608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CA8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CA8B8"/>
                </a:solidFill>
                <a:latin typeface="Calibri"/>
                <a:ea typeface="Calibri"/>
                <a:cs typeface="Calibri"/>
                <a:sym typeface="Calibri"/>
              </a:rPr>
              <a:t>Fidel  ·  Eladio  ·  Jeheon   |   github.com/Firolo8/hackathon-2026-projects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