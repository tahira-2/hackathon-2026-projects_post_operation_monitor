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62" r:id="rId3"/>
    <p:sldId id="257" r:id="rId4"/>
    <p:sldId id="258" r:id="rId5"/>
    <p:sldId id="259" r:id="rId6"/>
    <p:sldId id="260" r:id="rId7"/>
    <p:sldId id="261" r:id="rId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100" d="100"/>
          <a:sy n="100" d="100"/>
        </p:scale>
        <p:origin x="300" y="-1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569853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23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" name="Image 0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983480" y="709930"/>
            <a:ext cx="4114800" cy="372364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029200" y="0"/>
            <a:ext cx="731520" cy="5143500"/>
          </a:xfrm>
          <a:prstGeom prst="rect">
            <a:avLst/>
          </a:prstGeom>
          <a:solidFill>
            <a:srgbClr val="0A2342">
              <a:alpha val="70000"/>
            </a:srgbClr>
          </a:solidFill>
          <a:ln w="12700">
            <a:solidFill>
              <a:srgbClr val="0A23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2"/>
          <p:cNvSpPr/>
          <p:nvPr/>
        </p:nvSpPr>
        <p:spPr>
          <a:xfrm>
            <a:off x="411480" y="365760"/>
            <a:ext cx="822960" cy="822960"/>
          </a:xfrm>
          <a:prstGeom prst="ellipse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411480" y="36576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FFFFFF"/>
                </a:solidFill>
              </a:rPr>
              <a:t>⚕</a:t>
            </a:r>
            <a:endParaRPr lang="en-US" sz="2400" dirty="0"/>
          </a:p>
        </p:txBody>
      </p:sp>
      <p:sp>
        <p:nvSpPr>
          <p:cNvPr id="7" name="Shape 4"/>
          <p:cNvSpPr/>
          <p:nvPr/>
        </p:nvSpPr>
        <p:spPr>
          <a:xfrm>
            <a:off x="411480" y="1371600"/>
            <a:ext cx="2286000" cy="256032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411480" y="137160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kern="0" spc="100" dirty="0">
                <a:solidFill>
                  <a:srgbClr val="FFFFFF"/>
                </a:solidFill>
              </a:rPr>
              <a:t>HACKATHON 2026 — HEALTHCARE TRACK</a:t>
            </a:r>
            <a:endParaRPr lang="en-US" sz="700" dirty="0"/>
          </a:p>
        </p:txBody>
      </p:sp>
      <p:sp>
        <p:nvSpPr>
          <p:cNvPr id="9" name="Text 6"/>
          <p:cNvSpPr/>
          <p:nvPr/>
        </p:nvSpPr>
        <p:spPr>
          <a:xfrm>
            <a:off x="411480" y="1783080"/>
            <a:ext cx="4572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TriageTech</a:t>
            </a:r>
            <a:endParaRPr lang="en-US" sz="5200" dirty="0"/>
          </a:p>
        </p:txBody>
      </p:sp>
      <p:sp>
        <p:nvSpPr>
          <p:cNvPr id="10" name="Text 7"/>
          <p:cNvSpPr/>
          <p:nvPr/>
        </p:nvSpPr>
        <p:spPr>
          <a:xfrm>
            <a:off x="411480" y="2834640"/>
            <a:ext cx="43891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A8C8F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AI-Powered Symptom Checker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A8C8F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&amp; Patient Triage System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411480" y="3840480"/>
            <a:ext cx="4389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7EB5E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Right patient. Right place. Right time.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274320" y="4800600"/>
            <a:ext cx="859536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FFFFFF"/>
                </a:solidFill>
              </a:rPr>
              <a:t>Nepal's public hospitals are overwhelmed — no system tells people how sick they are before they arrive.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Meet the Team">
    <p:bg>
      <p:bgPr>
        <a:solidFill>
          <a:srgbClr val="F8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Bar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lideTitle"/>
          <p:cNvSpPr/>
          <p:nvPr/>
        </p:nvSpPr>
        <p:spPr>
          <a:xfrm>
            <a:off x="457200" y="0"/>
            <a:ext cx="54864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</a:rPr>
              <a:t>MEET THE TEAM</a:t>
            </a:r>
          </a:p>
        </p:txBody>
      </p:sp>
      <p:sp>
        <p:nvSpPr>
          <p:cNvPr id="4" name="SlideNum"/>
          <p:cNvSpPr/>
          <p:nvPr/>
        </p:nvSpPr>
        <p:spPr>
          <a:xfrm>
            <a:off x="7498080" y="0"/>
            <a:ext cx="14630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8AACCC"/>
                </a:solidFill>
                <a:latin typeface="Calibri" pitchFamily="34" charset="0"/>
              </a:rPr>
              <a:t>Slide 7 / 7</a:t>
            </a:r>
          </a:p>
        </p:txBody>
      </p:sp>
      <p:sp>
        <p:nvSpPr>
          <p:cNvPr id="10" name="Card1BG"/>
          <p:cNvSpPr/>
          <p:nvPr/>
        </p:nvSpPr>
        <p:spPr>
          <a:xfrm>
            <a:off x="304800" y="1066800"/>
            <a:ext cx="4038600" cy="1440000"/>
          </a:xfrm>
          <a:prstGeom prst="rect">
            <a:avLst/>
          </a:prstGeom>
          <a:solidFill>
            <a:srgbClr val="FFFFFF"/>
          </a:solidFill>
          <a:ln w="19050">
            <a:solidFill>
              <a:srgbClr val="1E88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Card1Accent"/>
          <p:cNvSpPr/>
          <p:nvPr/>
        </p:nvSpPr>
        <p:spPr>
          <a:xfrm>
            <a:off x="304800" y="1066800"/>
            <a:ext cx="190500" cy="1440000"/>
          </a:xfrm>
          <a:prstGeom prst="rect">
            <a:avLst/>
          </a:prstGeom>
          <a:solidFill>
            <a:srgbClr val="1E88E5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" name="Card1Avatar"/>
          <p:cNvSpPr/>
          <p:nvPr/>
        </p:nvSpPr>
        <p:spPr>
          <a:xfrm>
            <a:off x="552960" y="1130760"/>
            <a:ext cx="533400" cy="533400"/>
          </a:xfrm>
          <a:prstGeom prst="ellipse">
            <a:avLst/>
          </a:prstGeom>
          <a:solidFill>
            <a:srgbClr val="1E88E5"/>
          </a:solidFill>
          <a:ln w="0">
            <a:noFill/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/>
              </a:rPr>
              <a:t>S</a:t>
            </a:r>
          </a:p>
        </p:txBody>
      </p:sp>
      <p:sp>
        <p:nvSpPr>
          <p:cNvPr id="13" name="Card1Text"/>
          <p:cNvSpPr/>
          <p:nvPr/>
        </p:nvSpPr>
        <p:spPr>
          <a:xfrm>
            <a:off x="1105260" y="1105260"/>
            <a:ext cx="3162540" cy="13625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0A2342"/>
                </a:solidFill>
                <a:latin typeface="Calibri"/>
              </a:rPr>
              <a:t>Sonam Acharya</a:t>
            </a:r>
          </a:p>
          <a:p>
            <a:pPr marL="0" indent="0">
              <a:buNone/>
            </a:pPr>
            <a:r>
              <a:rPr lang="en-US" sz="1100" b="1" dirty="0">
                <a:solidFill>
                  <a:srgbClr val="1E88E5"/>
                </a:solidFill>
                <a:latin typeface="Calibri"/>
              </a:rPr>
              <a:t>Lead / Backend Engineer</a:t>
            </a:r>
          </a:p>
          <a:p>
            <a:pPr marL="0" indent="0">
              <a:buNone/>
            </a:pPr>
            <a:r>
              <a:rPr lang="en-US" sz="900" dirty="0">
                <a:solidFill>
                  <a:srgbClr val="AAAAAA"/>
                </a:solidFill>
                <a:latin typeface="Calibri"/>
              </a:rPr>
              <a:t> 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445566"/>
                </a:solidFill>
                <a:latin typeface="Calibri"/>
              </a:rPr>
              <a:t>FastAPI triage engine, Nepali NLP, clinic API</a:t>
            </a:r>
          </a:p>
        </p:txBody>
      </p:sp>
      <p:sp>
        <p:nvSpPr>
          <p:cNvPr id="20" name="Card2BG"/>
          <p:cNvSpPr/>
          <p:nvPr/>
        </p:nvSpPr>
        <p:spPr>
          <a:xfrm>
            <a:off x="4800600" y="1066800"/>
            <a:ext cx="4038600" cy="1440000"/>
          </a:xfrm>
          <a:prstGeom prst="rect">
            <a:avLst/>
          </a:prstGeom>
          <a:solidFill>
            <a:srgbClr val="FFFFFF"/>
          </a:solidFill>
          <a:ln w="19050">
            <a:solidFill>
              <a:srgbClr val="00B8A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Card2Accent"/>
          <p:cNvSpPr/>
          <p:nvPr/>
        </p:nvSpPr>
        <p:spPr>
          <a:xfrm>
            <a:off x="4800600" y="1066800"/>
            <a:ext cx="190500" cy="1440000"/>
          </a:xfrm>
          <a:prstGeom prst="rect">
            <a:avLst/>
          </a:prstGeom>
          <a:solidFill>
            <a:srgbClr val="00B8A9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2" name="Card2Avatar"/>
          <p:cNvSpPr/>
          <p:nvPr/>
        </p:nvSpPr>
        <p:spPr>
          <a:xfrm>
            <a:off x="5048760" y="1130760"/>
            <a:ext cx="533400" cy="533400"/>
          </a:xfrm>
          <a:prstGeom prst="ellipse">
            <a:avLst/>
          </a:prstGeom>
          <a:solidFill>
            <a:srgbClr val="00B8A9"/>
          </a:solidFill>
          <a:ln w="0">
            <a:noFill/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Card2Text"/>
          <p:cNvSpPr/>
          <p:nvPr/>
        </p:nvSpPr>
        <p:spPr>
          <a:xfrm>
            <a:off x="5601060" y="1105260"/>
            <a:ext cx="3162540" cy="13625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0A2342"/>
                </a:solidFill>
                <a:latin typeface="Calibri"/>
              </a:rPr>
              <a:t>Dammaru Ballav Koirala</a:t>
            </a:r>
          </a:p>
          <a:p>
            <a:pPr marL="0" indent="0">
              <a:buNone/>
            </a:pPr>
            <a:r>
              <a:rPr lang="en-US" sz="1100" b="1" dirty="0">
                <a:solidFill>
                  <a:srgbClr val="00B8A9"/>
                </a:solidFill>
                <a:latin typeface="Calibri"/>
              </a:rPr>
              <a:t>Frontend Developer</a:t>
            </a:r>
          </a:p>
          <a:p>
            <a:pPr marL="0" indent="0">
              <a:buNone/>
            </a:pPr>
            <a:r>
              <a:rPr lang="en-US" sz="900" dirty="0">
                <a:solidFill>
                  <a:srgbClr val="AAAAAA"/>
                </a:solidFill>
                <a:latin typeface="Calibri"/>
              </a:rPr>
              <a:t> 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445566"/>
                </a:solidFill>
                <a:latin typeface="Calibri"/>
              </a:rPr>
              <a:t>React PWA, bilingual UI, Leaflet maps</a:t>
            </a:r>
          </a:p>
        </p:txBody>
      </p:sp>
      <p:sp>
        <p:nvSpPr>
          <p:cNvPr id="30" name="Card3BG"/>
          <p:cNvSpPr/>
          <p:nvPr/>
        </p:nvSpPr>
        <p:spPr>
          <a:xfrm>
            <a:off x="304800" y="2667000"/>
            <a:ext cx="4038600" cy="1440000"/>
          </a:xfrm>
          <a:prstGeom prst="rect">
            <a:avLst/>
          </a:prstGeom>
          <a:solidFill>
            <a:srgbClr val="FFFFFF"/>
          </a:solidFill>
          <a:ln w="19050">
            <a:solidFill>
              <a:srgbClr val="7C4D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Card3Accent"/>
          <p:cNvSpPr/>
          <p:nvPr/>
        </p:nvSpPr>
        <p:spPr>
          <a:xfrm>
            <a:off x="304800" y="2667000"/>
            <a:ext cx="190500" cy="1440000"/>
          </a:xfrm>
          <a:prstGeom prst="rect">
            <a:avLst/>
          </a:prstGeom>
          <a:solidFill>
            <a:srgbClr val="7C4DFF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2" name="Card3Avatar"/>
          <p:cNvSpPr/>
          <p:nvPr/>
        </p:nvSpPr>
        <p:spPr>
          <a:xfrm>
            <a:off x="552960" y="2730960"/>
            <a:ext cx="533400" cy="533400"/>
          </a:xfrm>
          <a:prstGeom prst="ellipse">
            <a:avLst/>
          </a:prstGeom>
          <a:solidFill>
            <a:srgbClr val="7C4DFF"/>
          </a:solidFill>
          <a:ln w="0">
            <a:noFill/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33" name="Card3Text"/>
          <p:cNvSpPr/>
          <p:nvPr/>
        </p:nvSpPr>
        <p:spPr>
          <a:xfrm>
            <a:off x="1105260" y="2705460"/>
            <a:ext cx="3162540" cy="13625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0A2342"/>
                </a:solidFill>
                <a:latin typeface="Calibri"/>
              </a:rPr>
              <a:t>Akash Dhimal</a:t>
            </a:r>
          </a:p>
          <a:p>
            <a:pPr marL="0" indent="0">
              <a:buNone/>
            </a:pPr>
            <a:r>
              <a:rPr lang="en-US" sz="1100" b="1" dirty="0">
                <a:solidFill>
                  <a:srgbClr val="7C4DFF"/>
                </a:solidFill>
                <a:latin typeface="Calibri"/>
              </a:rPr>
              <a:t>AI / ML Lead</a:t>
            </a:r>
          </a:p>
          <a:p>
            <a:pPr marL="0" indent="0">
              <a:buNone/>
            </a:pPr>
            <a:r>
              <a:rPr lang="en-US" sz="900" dirty="0">
                <a:solidFill>
                  <a:srgbClr val="AAAAAA"/>
                </a:solidFill>
                <a:latin typeface="Calibri"/>
              </a:rPr>
              <a:t> 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445566"/>
                </a:solidFill>
                <a:latin typeface="Calibri"/>
              </a:rPr>
              <a:t>Rule engine design, bias audit, responsible AI</a:t>
            </a:r>
          </a:p>
        </p:txBody>
      </p:sp>
      <p:sp>
        <p:nvSpPr>
          <p:cNvPr id="40" name="Card4BG"/>
          <p:cNvSpPr/>
          <p:nvPr/>
        </p:nvSpPr>
        <p:spPr>
          <a:xfrm>
            <a:off x="4800600" y="2667000"/>
            <a:ext cx="4038600" cy="1440000"/>
          </a:xfrm>
          <a:prstGeom prst="rect">
            <a:avLst/>
          </a:prstGeom>
          <a:solidFill>
            <a:srgbClr val="FFFFFF"/>
          </a:solidFill>
          <a:ln w="19050">
            <a:solidFill>
              <a:srgbClr val="FF6D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Card4Accent"/>
          <p:cNvSpPr/>
          <p:nvPr/>
        </p:nvSpPr>
        <p:spPr>
          <a:xfrm>
            <a:off x="4800600" y="2667000"/>
            <a:ext cx="190500" cy="1440000"/>
          </a:xfrm>
          <a:prstGeom prst="rect">
            <a:avLst/>
          </a:prstGeom>
          <a:solidFill>
            <a:srgbClr val="FF6D00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2" name="Card4Avatar"/>
          <p:cNvSpPr/>
          <p:nvPr/>
        </p:nvSpPr>
        <p:spPr>
          <a:xfrm>
            <a:off x="5048760" y="2730960"/>
            <a:ext cx="533400" cy="533400"/>
          </a:xfrm>
          <a:prstGeom prst="ellipse">
            <a:avLst/>
          </a:prstGeom>
          <a:solidFill>
            <a:srgbClr val="FF6D00"/>
          </a:solidFill>
          <a:ln w="0">
            <a:noFill/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/>
              </a:rPr>
              <a:t>G</a:t>
            </a:r>
          </a:p>
        </p:txBody>
      </p:sp>
      <p:sp>
        <p:nvSpPr>
          <p:cNvPr id="43" name="Card4Text"/>
          <p:cNvSpPr/>
          <p:nvPr/>
        </p:nvSpPr>
        <p:spPr>
          <a:xfrm>
            <a:off x="5601060" y="2705460"/>
            <a:ext cx="3162540" cy="13625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0A2342"/>
                </a:solidFill>
                <a:latin typeface="Calibri"/>
              </a:rPr>
              <a:t>Aaska Ghimere</a:t>
            </a:r>
          </a:p>
          <a:p>
            <a:pPr marL="0" indent="0">
              <a:buNone/>
            </a:pPr>
            <a:r>
              <a:rPr lang="en-US" sz="1100" b="1" dirty="0">
                <a:solidFill>
                  <a:srgbClr val="FF6D00"/>
                </a:solidFill>
                <a:latin typeface="Calibri"/>
              </a:rPr>
              <a:t>UX / Documentation</a:t>
            </a:r>
          </a:p>
          <a:p>
            <a:pPr marL="0" indent="0">
              <a:buNone/>
            </a:pPr>
            <a:r>
              <a:rPr lang="en-US" sz="900" dirty="0">
                <a:solidFill>
                  <a:srgbClr val="AAAAAA"/>
                </a:solidFill>
                <a:latin typeface="Calibri"/>
              </a:rPr>
              <a:t> 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445566"/>
                </a:solidFill>
                <a:latin typeface="Calibri"/>
              </a:rPr>
              <a:t>Architecture, clinical references, API spec</a:t>
            </a:r>
          </a:p>
        </p:txBody>
      </p:sp>
      <p:sp>
        <p:nvSpPr>
          <p:cNvPr id="50" name="Tagline"/>
          <p:cNvSpPr/>
          <p:nvPr/>
        </p:nvSpPr>
        <p:spPr>
          <a:xfrm>
            <a:off x="304800" y="4259880"/>
            <a:ext cx="8534400" cy="33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577AA"/>
                </a:solidFill>
                <a:latin typeface="Calibri"/>
              </a:rPr>
              <a:t>Built together for Nepal's patients — CareDevi Hackathon 2025</a:t>
            </a:r>
          </a:p>
        </p:txBody>
      </p:sp>
      <p:sp>
        <p:nvSpPr>
          <p:cNvPr id="51" name="FooterBar"/>
          <p:cNvSpPr/>
          <p:nvPr/>
        </p:nvSpPr>
        <p:spPr>
          <a:xfrm>
            <a:off x="0" y="4648200"/>
            <a:ext cx="9144000" cy="495300"/>
          </a:xfrm>
          <a:prstGeom prst="rect">
            <a:avLst/>
          </a:prstGeom>
          <a:solidFill>
            <a:srgbClr val="0A2342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2" name="FooterText"/>
          <p:cNvSpPr/>
          <p:nvPr/>
        </p:nvSpPr>
        <p:spPr>
          <a:xfrm>
            <a:off x="304800" y="4648200"/>
            <a:ext cx="8534400" cy="4953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8AACCC"/>
                </a:solidFill>
                <a:latin typeface="Calibri"/>
              </a:rPr>
              <a:t>Built for CareDevi Innovation Lab · Hackathon 2025 · Healthcare Track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54864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498080" y="0"/>
            <a:ext cx="14630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0B8E0"/>
                </a:solidFill>
              </a:rPr>
              <a:t>Slide 2 / 6</a:t>
            </a:r>
            <a:endParaRPr lang="en-US" sz="9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65760" y="1097280"/>
            <a:ext cx="3291840" cy="32461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3840480" y="1143000"/>
            <a:ext cx="4937760" cy="960120"/>
          </a:xfrm>
          <a:prstGeom prst="rect">
            <a:avLst/>
          </a:prstGeom>
          <a:solidFill>
            <a:srgbClr val="FFEBEE"/>
          </a:solidFill>
          <a:ln w="19050">
            <a:solidFill>
              <a:srgbClr val="B71C1C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3977640" y="1216152"/>
            <a:ext cx="100584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B71C1C"/>
                </a:solidFill>
              </a:rPr>
              <a:t>3x</a:t>
            </a:r>
            <a:endParaRPr lang="en-US" sz="2600" dirty="0"/>
          </a:p>
        </p:txBody>
      </p:sp>
      <p:sp>
        <p:nvSpPr>
          <p:cNvPr id="8" name="Shape 5"/>
          <p:cNvSpPr/>
          <p:nvPr/>
        </p:nvSpPr>
        <p:spPr>
          <a:xfrm>
            <a:off x="5029200" y="1280160"/>
            <a:ext cx="27432" cy="685800"/>
          </a:xfrm>
          <a:prstGeom prst="rect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5166360" y="1216152"/>
            <a:ext cx="3474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55A64"/>
                </a:solidFill>
              </a:rPr>
              <a:t>Nepal's hospitals are 3× over capacity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840480" y="2240280"/>
            <a:ext cx="4937760" cy="960120"/>
          </a:xfrm>
          <a:prstGeom prst="rect">
            <a:avLst/>
          </a:prstGeom>
          <a:solidFill>
            <a:srgbClr val="FFF3E0"/>
          </a:solidFill>
          <a:ln w="19050">
            <a:solidFill>
              <a:srgbClr val="E651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3977640" y="2313432"/>
            <a:ext cx="100584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E65100"/>
                </a:solidFill>
              </a:rPr>
              <a:t>72%</a:t>
            </a:r>
            <a:endParaRPr lang="en-US" sz="2600" dirty="0"/>
          </a:p>
        </p:txBody>
      </p:sp>
      <p:sp>
        <p:nvSpPr>
          <p:cNvPr id="12" name="Shape 9"/>
          <p:cNvSpPr/>
          <p:nvPr/>
        </p:nvSpPr>
        <p:spPr>
          <a:xfrm>
            <a:off x="5029200" y="2377440"/>
            <a:ext cx="27432" cy="68580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5166360" y="2313432"/>
            <a:ext cx="3474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55A64"/>
                </a:solidFill>
              </a:rPr>
              <a:t>Of ER visits are non-urgent cases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3840480" y="3337560"/>
            <a:ext cx="4937760" cy="960120"/>
          </a:xfrm>
          <a:prstGeom prst="rect">
            <a:avLst/>
          </a:prstGeom>
          <a:solidFill>
            <a:srgbClr val="E3F2FD"/>
          </a:solidFill>
          <a:ln w="19050">
            <a:solidFill>
              <a:srgbClr val="1565C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3977640" y="3410712"/>
            <a:ext cx="100584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565C0"/>
                </a:solidFill>
              </a:rPr>
              <a:t>48 km</a:t>
            </a:r>
            <a:endParaRPr lang="en-US" sz="2600" dirty="0"/>
          </a:p>
        </p:txBody>
      </p:sp>
      <p:sp>
        <p:nvSpPr>
          <p:cNvPr id="16" name="Shape 13"/>
          <p:cNvSpPr/>
          <p:nvPr/>
        </p:nvSpPr>
        <p:spPr>
          <a:xfrm>
            <a:off x="5029200" y="3474720"/>
            <a:ext cx="27432" cy="6858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5166360" y="3410712"/>
            <a:ext cx="3474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55A64"/>
                </a:solidFill>
              </a:rPr>
              <a:t>Average distance to hospital in rural Nepal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365760" y="4453128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78909C"/>
                </a:solidFill>
              </a:rPr>
              <a:t>Without a triage system, mild cases clog the ER and serious cases wait too long.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54864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OUR SOLUTION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498080" y="0"/>
            <a:ext cx="14630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8C8F0"/>
                </a:solidFill>
              </a:rPr>
              <a:t>Slide 3 / 6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2103120" cy="3200400"/>
          </a:xfrm>
          <a:prstGeom prst="rect">
            <a:avLst/>
          </a:prstGeom>
          <a:solidFill>
            <a:srgbClr val="E8F5E9"/>
          </a:solidFill>
          <a:ln w="25400">
            <a:solidFill>
              <a:srgbClr val="2E7D32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1188720"/>
            <a:ext cx="2103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🟢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1920240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E7D32"/>
                </a:solidFill>
              </a:rPr>
              <a:t>HOME REST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31520" y="2377440"/>
            <a:ext cx="1554480" cy="2743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48640" y="2468880"/>
            <a:ext cx="19202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55A64"/>
                </a:solidFill>
              </a:rPr>
              <a:t>Mild symptoms.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455A64"/>
                </a:solidFill>
              </a:rPr>
              <a:t>Rest &amp; monitor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455A64"/>
                </a:solidFill>
              </a:rPr>
              <a:t>at home.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788920" y="1097280"/>
            <a:ext cx="2103120" cy="3200400"/>
          </a:xfrm>
          <a:prstGeom prst="rect">
            <a:avLst/>
          </a:prstGeom>
          <a:solidFill>
            <a:srgbClr val="FFF3E0"/>
          </a:solidFill>
          <a:ln w="25400">
            <a:solidFill>
              <a:srgbClr val="E651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788920" y="1188720"/>
            <a:ext cx="2103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🟡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2788920" y="1920240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65100"/>
                </a:solidFill>
              </a:rPr>
              <a:t>SEE DOCTOR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063240" y="2377440"/>
            <a:ext cx="1554480" cy="27432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2880360" y="2468880"/>
            <a:ext cx="19202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55A64"/>
                </a:solidFill>
              </a:rPr>
              <a:t>Moderate symptoms.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455A64"/>
                </a:solidFill>
              </a:rPr>
              <a:t>Visit clinic within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455A64"/>
                </a:solidFill>
              </a:rPr>
              <a:t>24–48 hours.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120640" y="1097280"/>
            <a:ext cx="2103120" cy="3200400"/>
          </a:xfrm>
          <a:prstGeom prst="rect">
            <a:avLst/>
          </a:prstGeom>
          <a:solidFill>
            <a:srgbClr val="FFEBEE"/>
          </a:solidFill>
          <a:ln w="25400">
            <a:solidFill>
              <a:srgbClr val="B71C1C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120640" y="1188720"/>
            <a:ext cx="2103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🔴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5120640" y="1920240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B71C1C"/>
                </a:solidFill>
              </a:rPr>
              <a:t>EMERGENCY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394960" y="2377440"/>
            <a:ext cx="1554480" cy="27432"/>
          </a:xfrm>
          <a:prstGeom prst="rect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212080" y="2468880"/>
            <a:ext cx="19202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55A64"/>
                </a:solidFill>
              </a:rPr>
              <a:t>Severe symptoms.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455A64"/>
                </a:solidFill>
              </a:rPr>
              <a:t>Go to hospital ER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455A64"/>
                </a:solidFill>
              </a:rPr>
              <a:t>immediately.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040880" y="1097280"/>
            <a:ext cx="1874520" cy="3200400"/>
          </a:xfrm>
          <a:prstGeom prst="rect">
            <a:avLst/>
          </a:prstGeom>
          <a:solidFill>
            <a:srgbClr val="E3F2FD"/>
          </a:solidFill>
          <a:ln w="12700">
            <a:solidFill>
              <a:srgbClr val="1E88E5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7040880" y="1188720"/>
            <a:ext cx="1874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1565C0"/>
                </a:solidFill>
              </a:rPr>
              <a:t>HOW IT WORKS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7086600" y="1554480"/>
            <a:ext cx="1783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A2342"/>
                </a:solidFill>
              </a:rPr>
              <a:t>1. Describe symptoms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0A2342"/>
                </a:solidFill>
              </a:rPr>
              <a:t>(text or voice)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635240" y="2121408"/>
            <a:ext cx="365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88E5"/>
                </a:solidFill>
              </a:rPr>
              <a:t>↓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086600" y="2212848"/>
            <a:ext cx="1783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A2342"/>
                </a:solidFill>
              </a:rPr>
              <a:t>2. NLP extracts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0A2342"/>
                </a:solidFill>
              </a:rPr>
              <a:t>key signals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7635240" y="2779776"/>
            <a:ext cx="365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88E5"/>
                </a:solidFill>
              </a:rPr>
              <a:t>↓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7086600" y="2871216"/>
            <a:ext cx="1783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A2342"/>
                </a:solidFill>
              </a:rPr>
              <a:t>3. Rule engine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0A2342"/>
                </a:solidFill>
              </a:rPr>
              <a:t>scores severity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635240" y="3438144"/>
            <a:ext cx="365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88E5"/>
                </a:solidFill>
              </a:rPr>
              <a:t>↓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7086600" y="3529584"/>
            <a:ext cx="1783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A2342"/>
                </a:solidFill>
              </a:rPr>
              <a:t>4. Get instant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0A2342"/>
                </a:solidFill>
              </a:rPr>
              <a:t>clear advice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65760" y="443484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i="1" dirty="0">
                <a:solidFill>
                  <a:srgbClr val="1565C0"/>
                </a:solidFill>
              </a:rPr>
              <a:t>One question. Three answers. Instant clarity.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23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2E"/>
          </a:solidFill>
          <a:ln w="12700">
            <a:solidFill>
              <a:srgbClr val="0D1B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64008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TECHNICAL ARCHITECTURE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498080" y="0"/>
            <a:ext cx="14630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080A0"/>
                </a:solidFill>
              </a:rPr>
              <a:t>Slide 4 / 6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320040" y="1097280"/>
            <a:ext cx="2651760" cy="3383280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20040" y="1170432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FFFFFF"/>
                </a:solidFill>
              </a:rPr>
              <a:t>FRONTEND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02920" y="1517904"/>
            <a:ext cx="2286000" cy="228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84632" y="1645920"/>
            <a:ext cx="2322576" cy="566928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21208" y="1664208"/>
            <a:ext cx="2249424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React + Tailwind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84632" y="2331720"/>
            <a:ext cx="2322576" cy="566928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21208" y="2350008"/>
            <a:ext cx="2249424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PWA (mobile-first)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84632" y="3017520"/>
            <a:ext cx="2322576" cy="566928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21208" y="3035808"/>
            <a:ext cx="2249424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Voice input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84632" y="3703320"/>
            <a:ext cx="2322576" cy="566928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21208" y="3721608"/>
            <a:ext cx="2249424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EN / नेपाली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971800" y="246888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0B8E0"/>
                </a:solidFill>
              </a:rPr>
              <a:t>⟷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3246120" y="1097280"/>
            <a:ext cx="2651760" cy="3383280"/>
          </a:xfrm>
          <a:prstGeom prst="rect">
            <a:avLst/>
          </a:prstGeom>
          <a:solidFill>
            <a:srgbClr val="0277BD"/>
          </a:solidFill>
          <a:ln w="12700">
            <a:solidFill>
              <a:srgbClr val="0277BD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3246120" y="1170432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FFFFFF"/>
                </a:solidFill>
              </a:rPr>
              <a:t>BACKEND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429000" y="1517904"/>
            <a:ext cx="2286000" cy="228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3410712" y="1645920"/>
            <a:ext cx="2322576" cy="566928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3447288" y="1664208"/>
            <a:ext cx="2249424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FastAPI (Python)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410712" y="2331720"/>
            <a:ext cx="2322576" cy="566928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3447288" y="2350008"/>
            <a:ext cx="2249424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NLP extractor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410712" y="3017520"/>
            <a:ext cx="2322576" cy="566928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3447288" y="3035808"/>
            <a:ext cx="2249424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Rule engine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10712" y="3703320"/>
            <a:ext cx="2322576" cy="566928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3447288" y="3721608"/>
            <a:ext cx="2249424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Clinic lookup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897880" y="246888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0B8E0"/>
                </a:solidFill>
              </a:rPr>
              <a:t>⟷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6172200" y="1097280"/>
            <a:ext cx="2651760" cy="3383280"/>
          </a:xfrm>
          <a:prstGeom prst="rect">
            <a:avLst/>
          </a:prstGeom>
          <a:solidFill>
            <a:srgbClr val="01579B"/>
          </a:solidFill>
          <a:ln w="12700">
            <a:solidFill>
              <a:srgbClr val="01579B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6172200" y="1170432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FFFFFF"/>
                </a:solidFill>
              </a:rPr>
              <a:t>DATA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355080" y="1517904"/>
            <a:ext cx="2286000" cy="228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6336792" y="1645920"/>
            <a:ext cx="2322576" cy="566928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6373368" y="1664208"/>
            <a:ext cx="2249424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Symptom KB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336792" y="2331720"/>
            <a:ext cx="2322576" cy="566928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6373368" y="2350008"/>
            <a:ext cx="2249424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Nepal clinics GeoJSON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6336792" y="3017520"/>
            <a:ext cx="2322576" cy="566928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6373368" y="3035808"/>
            <a:ext cx="2249424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WHO ICD-10 refs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6336792" y="3703320"/>
            <a:ext cx="2322576" cy="566928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6373368" y="3721608"/>
            <a:ext cx="2249424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Bias audit logs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320040" y="466344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0B8E0"/>
                </a:solidFill>
              </a:rPr>
              <a:t>Tech Stack: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1417320" y="4663440"/>
            <a:ext cx="1143000" cy="274320"/>
          </a:xfrm>
          <a:prstGeom prst="rect">
            <a:avLst/>
          </a:prstGeom>
          <a:solidFill>
            <a:srgbClr val="1E3A5F"/>
          </a:solidFill>
          <a:ln w="12700">
            <a:solidFill>
              <a:srgbClr val="90B8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1417320" y="4663440"/>
            <a:ext cx="1143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0B8E0"/>
                </a:solidFill>
              </a:rPr>
              <a:t>Python 3.11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2697480" y="4663440"/>
            <a:ext cx="1143000" cy="274320"/>
          </a:xfrm>
          <a:prstGeom prst="rect">
            <a:avLst/>
          </a:prstGeom>
          <a:solidFill>
            <a:srgbClr val="1E3A5F"/>
          </a:solidFill>
          <a:ln w="12700">
            <a:solidFill>
              <a:srgbClr val="90B8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2697480" y="4663440"/>
            <a:ext cx="1143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0B8E0"/>
                </a:solidFill>
              </a:rPr>
              <a:t>FastAPI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3977640" y="4663440"/>
            <a:ext cx="1143000" cy="274320"/>
          </a:xfrm>
          <a:prstGeom prst="rect">
            <a:avLst/>
          </a:prstGeom>
          <a:solidFill>
            <a:srgbClr val="1E3A5F"/>
          </a:solidFill>
          <a:ln w="12700">
            <a:solidFill>
              <a:srgbClr val="90B8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3977640" y="4663440"/>
            <a:ext cx="1143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0B8E0"/>
                </a:solidFill>
              </a:rPr>
              <a:t>spaCy NLP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5257800" y="4663440"/>
            <a:ext cx="1143000" cy="274320"/>
          </a:xfrm>
          <a:prstGeom prst="rect">
            <a:avLst/>
          </a:prstGeom>
          <a:solidFill>
            <a:srgbClr val="1E3A5F"/>
          </a:solidFill>
          <a:ln w="12700">
            <a:solidFill>
              <a:srgbClr val="90B8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5257800" y="4663440"/>
            <a:ext cx="1143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0B8E0"/>
                </a:solidFill>
              </a:rPr>
              <a:t>React 18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6537960" y="4663440"/>
            <a:ext cx="1143000" cy="274320"/>
          </a:xfrm>
          <a:prstGeom prst="rect">
            <a:avLst/>
          </a:prstGeom>
          <a:solidFill>
            <a:srgbClr val="1E3A5F"/>
          </a:solidFill>
          <a:ln w="12700">
            <a:solidFill>
              <a:srgbClr val="90B8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6537960" y="4663440"/>
            <a:ext cx="1143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0B8E0"/>
                </a:solidFill>
              </a:rPr>
              <a:t>Leaflet.js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7818120" y="4663440"/>
            <a:ext cx="1143000" cy="274320"/>
          </a:xfrm>
          <a:prstGeom prst="rect">
            <a:avLst/>
          </a:prstGeom>
          <a:solidFill>
            <a:srgbClr val="1E3A5F"/>
          </a:solidFill>
          <a:ln w="12700">
            <a:solidFill>
              <a:srgbClr val="90B8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7818120" y="4663440"/>
            <a:ext cx="1143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0B8E0"/>
                </a:solidFill>
              </a:rPr>
              <a:t>PWA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64008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DEMO &amp; REAL-WORLD IMPACT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498080" y="0"/>
            <a:ext cx="14630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0B8E0"/>
                </a:solidFill>
              </a:rPr>
              <a:t>Slide 5 / 6</a:t>
            </a:r>
            <a:endParaRPr lang="en-US" sz="900" dirty="0"/>
          </a:p>
        </p:txBody>
      </p:sp>
      <p:pic>
        <p:nvPicPr>
          <p:cNvPr id="5" name="Image 0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19706" y="1211918"/>
            <a:ext cx="2879526" cy="275166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154680" y="11430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1565C0"/>
                </a:solidFill>
              </a:rPr>
              <a:t>USER JOURNEY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3154680" y="1508760"/>
            <a:ext cx="347472" cy="347472"/>
          </a:xfrm>
          <a:prstGeom prst="ellipse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3154680" y="150876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3611880" y="1508760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55A64"/>
                </a:solidFill>
              </a:rPr>
              <a:t>Patient describes symptoms in plain English (or Nepali)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3310128" y="1856232"/>
            <a:ext cx="36576" cy="384048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3154680" y="2240280"/>
            <a:ext cx="347472" cy="347472"/>
          </a:xfrm>
          <a:prstGeom prst="ellipse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3154680" y="224028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3611880" y="2240280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55A64"/>
                </a:solidFill>
              </a:rPr>
              <a:t>AI extracts signals &amp; scores severity in &lt; 1 second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3310128" y="2587752"/>
            <a:ext cx="36576" cy="384048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3154680" y="2971800"/>
            <a:ext cx="347472" cy="347472"/>
          </a:xfrm>
          <a:prstGeom prst="ellipse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3154680" y="297180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3611880" y="2971800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55A64"/>
                </a:solidFill>
              </a:rPr>
              <a:t>Three-level result shown with clear action steps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3310128" y="3319272"/>
            <a:ext cx="36576" cy="384048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6"/>
          <p:cNvSpPr/>
          <p:nvPr/>
        </p:nvSpPr>
        <p:spPr>
          <a:xfrm>
            <a:off x="3154680" y="3703320"/>
            <a:ext cx="347472" cy="347472"/>
          </a:xfrm>
          <a:prstGeom prst="ellipse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3154680" y="370332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3611880" y="3703320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55A64"/>
                </a:solidFill>
              </a:rPr>
              <a:t>Nearest clinic map shown if doctor/ER needed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6080760" y="11430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1565C0"/>
                </a:solidFill>
              </a:rPr>
              <a:t>PROJECTED IMPACT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6080760" y="1463040"/>
            <a:ext cx="2743200" cy="914400"/>
          </a:xfrm>
          <a:prstGeom prst="rect">
            <a:avLst/>
          </a:prstGeom>
          <a:solidFill>
            <a:srgbClr val="E8F5E9"/>
          </a:solidFill>
          <a:ln w="19050">
            <a:solidFill>
              <a:srgbClr val="2E7D32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6126480" y="1508760"/>
            <a:ext cx="914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E7D32"/>
                </a:solidFill>
              </a:rPr>
              <a:t>60%</a:t>
            </a:r>
            <a:endParaRPr lang="en-US" sz="2200" dirty="0"/>
          </a:p>
        </p:txBody>
      </p:sp>
      <p:sp>
        <p:nvSpPr>
          <p:cNvPr id="25" name="Shape 22"/>
          <p:cNvSpPr/>
          <p:nvPr/>
        </p:nvSpPr>
        <p:spPr>
          <a:xfrm>
            <a:off x="7077456" y="1600200"/>
            <a:ext cx="27432" cy="64008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3"/>
          <p:cNvSpPr/>
          <p:nvPr/>
        </p:nvSpPr>
        <p:spPr>
          <a:xfrm>
            <a:off x="7150608" y="1554480"/>
            <a:ext cx="1600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55A64"/>
                </a:solidFill>
              </a:rPr>
              <a:t>Reduction in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55A64"/>
                </a:solidFill>
              </a:rPr>
              <a:t>non-urgent ER visits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6080760" y="2514600"/>
            <a:ext cx="2743200" cy="914400"/>
          </a:xfrm>
          <a:prstGeom prst="rect">
            <a:avLst/>
          </a:prstGeom>
          <a:solidFill>
            <a:srgbClr val="E3F2FD"/>
          </a:solidFill>
          <a:ln w="19050">
            <a:solidFill>
              <a:srgbClr val="1565C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Text 25"/>
          <p:cNvSpPr/>
          <p:nvPr/>
        </p:nvSpPr>
        <p:spPr>
          <a:xfrm>
            <a:off x="6126480" y="2560320"/>
            <a:ext cx="914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565C0"/>
                </a:solidFill>
              </a:rPr>
              <a:t>&lt; 1s</a:t>
            </a:r>
            <a:endParaRPr lang="en-US" sz="2200" dirty="0"/>
          </a:p>
        </p:txBody>
      </p:sp>
      <p:sp>
        <p:nvSpPr>
          <p:cNvPr id="29" name="Shape 26"/>
          <p:cNvSpPr/>
          <p:nvPr/>
        </p:nvSpPr>
        <p:spPr>
          <a:xfrm>
            <a:off x="7077456" y="2651760"/>
            <a:ext cx="27432" cy="64008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7"/>
          <p:cNvSpPr/>
          <p:nvPr/>
        </p:nvSpPr>
        <p:spPr>
          <a:xfrm>
            <a:off x="7150608" y="2606040"/>
            <a:ext cx="1600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55A64"/>
                </a:solidFill>
              </a:rPr>
              <a:t>Triage decision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55A64"/>
                </a:solidFill>
              </a:rPr>
              <a:t>time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6080760" y="3566160"/>
            <a:ext cx="2743200" cy="914400"/>
          </a:xfrm>
          <a:prstGeom prst="rect">
            <a:avLst/>
          </a:prstGeom>
          <a:solidFill>
            <a:srgbClr val="FFF3E0"/>
          </a:solidFill>
          <a:ln w="19050">
            <a:solidFill>
              <a:srgbClr val="E651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2" name="Text 29"/>
          <p:cNvSpPr/>
          <p:nvPr/>
        </p:nvSpPr>
        <p:spPr>
          <a:xfrm>
            <a:off x="6126480" y="3611880"/>
            <a:ext cx="914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65100"/>
                </a:solidFill>
              </a:rPr>
              <a:t>Works</a:t>
            </a:r>
            <a:endParaRPr lang="en-US" sz="2200" dirty="0"/>
          </a:p>
        </p:txBody>
      </p:sp>
      <p:sp>
        <p:nvSpPr>
          <p:cNvPr id="33" name="Shape 30"/>
          <p:cNvSpPr/>
          <p:nvPr/>
        </p:nvSpPr>
        <p:spPr>
          <a:xfrm>
            <a:off x="7077456" y="3703320"/>
            <a:ext cx="27432" cy="64008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1"/>
          <p:cNvSpPr/>
          <p:nvPr/>
        </p:nvSpPr>
        <p:spPr>
          <a:xfrm>
            <a:off x="7150608" y="3657600"/>
            <a:ext cx="1600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55A64"/>
                </a:solidFill>
              </a:rPr>
              <a:t>Offline on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55A64"/>
                </a:solidFill>
              </a:rPr>
              <a:t>basic smartphones</a:t>
            </a:r>
            <a:endParaRPr lang="en-US" sz="1100" dirty="0"/>
          </a:p>
        </p:txBody>
      </p:sp>
      <p:sp>
        <p:nvSpPr>
          <p:cNvPr id="35" name="Text 32"/>
          <p:cNvSpPr/>
          <p:nvPr/>
        </p:nvSpPr>
        <p:spPr>
          <a:xfrm>
            <a:off x="365760" y="461772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78909C"/>
                </a:solidFill>
              </a:rPr>
              <a:t>Responsible AI: All outputs carry medical disclaimers. Bias audited across gender, age &amp; rural/urban splits.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23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029200" y="164592"/>
            <a:ext cx="4114800" cy="4978908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029200" y="164592"/>
            <a:ext cx="640080" cy="4978908"/>
          </a:xfrm>
          <a:prstGeom prst="rect">
            <a:avLst/>
          </a:prstGeom>
          <a:solidFill>
            <a:srgbClr val="0A2342">
              <a:alpha val="80000"/>
            </a:srgbClr>
          </a:solidFill>
          <a:ln w="12700">
            <a:solidFill>
              <a:srgbClr val="0A23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457200" y="594360"/>
            <a:ext cx="4297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TriageTech</a:t>
            </a:r>
            <a:endParaRPr lang="en-US" sz="4200" dirty="0"/>
          </a:p>
        </p:txBody>
      </p:sp>
      <p:sp>
        <p:nvSpPr>
          <p:cNvPr id="6" name="Text 3"/>
          <p:cNvSpPr/>
          <p:nvPr/>
        </p:nvSpPr>
        <p:spPr>
          <a:xfrm>
            <a:off x="457200" y="1463040"/>
            <a:ext cx="4297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7EB5E8"/>
                </a:solidFill>
              </a:rPr>
              <a:t>Right patient. Right place. Right time.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457200" y="1965960"/>
            <a:ext cx="4114800" cy="27432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457200" y="2103120"/>
            <a:ext cx="4297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8DEFF"/>
                </a:solidFill>
              </a:rPr>
              <a:t>✅  Rule-based AI — explainable, fast, no black box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457200" y="2542032"/>
            <a:ext cx="4297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8DEFF"/>
                </a:solidFill>
              </a:rPr>
              <a:t>✅  Built for Nepal's PHC network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57200" y="2980944"/>
            <a:ext cx="4297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8DEFF"/>
                </a:solidFill>
              </a:rPr>
              <a:t>✅  Works offline on basic Android phones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457200" y="3419856"/>
            <a:ext cx="4297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8DEFF"/>
                </a:solidFill>
              </a:rPr>
              <a:t>✅  English today — Nepali next sprint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457200" y="3858768"/>
            <a:ext cx="4297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8DEFF"/>
                </a:solidFill>
              </a:rPr>
              <a:t>✅  Open source &amp; auditable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457200" y="4315968"/>
            <a:ext cx="4114800" cy="594360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457200" y="4315968"/>
            <a:ext cx="4114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300" b="1" dirty="0">
                <a:solidFill>
                  <a:srgbClr val="FFFFFF"/>
                </a:solidFill>
              </a:rPr>
              <a:t>Try the live demo  → github.com/Acharya-Sonam/</a:t>
            </a:r>
            <a:r>
              <a:rPr lang="en-US" sz="1300" b="1" dirty="0" err="1">
                <a:solidFill>
                  <a:srgbClr val="FFFFFF"/>
                </a:solidFill>
              </a:rPr>
              <a:t>TriageTech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0" y="4965192"/>
            <a:ext cx="9144000" cy="178308"/>
          </a:xfrm>
          <a:prstGeom prst="rect">
            <a:avLst/>
          </a:prstGeom>
          <a:solidFill>
            <a:srgbClr val="0D1B2E"/>
          </a:solidFill>
          <a:ln w="12700">
            <a:solidFill>
              <a:srgbClr val="0D1B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274320" y="4965192"/>
            <a:ext cx="8595360" cy="1783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93</TotalTime>
  <Words>474</Words>
  <Application>Microsoft Office PowerPoint</Application>
  <PresentationFormat>On-screen Show (16:9)</PresentationFormat>
  <Paragraphs>132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TriageTech — AI Symptom Checker &amp; Triage</dc:title>
  <dc:subject>PptxGenJS Presentation</dc:subject>
  <dc:creator>PptxGenJS</dc:creator>
  <cp:lastModifiedBy>Sonam Acharya</cp:lastModifiedBy>
  <cp:revision>3</cp:revision>
  <dcterms:created xsi:type="dcterms:W3CDTF">2026-04-26T14:14:39Z</dcterms:created>
  <dcterms:modified xsi:type="dcterms:W3CDTF">2026-04-26T16:13:48Z</dcterms:modified>
</cp:coreProperties>
</file>